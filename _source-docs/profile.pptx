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Garet Bold" charset="1" panose="00000000000000000000"/>
      <p:regular r:id="rId19"/>
    </p:embeddedFont>
    <p:embeddedFont>
      <p:font typeface="Barlow Bold" charset="1" panose="00000800000000000000"/>
      <p:regular r:id="rId20"/>
    </p:embeddedFont>
    <p:embeddedFont>
      <p:font typeface="Barlow Semi-Bold" charset="1" panose="00000700000000000000"/>
      <p:regular r:id="rId21"/>
    </p:embeddedFont>
    <p:embeddedFont>
      <p:font typeface="Canva Sans Bold" charset="1" panose="020B0803030501040103"/>
      <p:regular r:id="rId22"/>
    </p:embeddedFont>
    <p:embeddedFont>
      <p:font typeface="Garet Light" charset="1" panose="000000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jpe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7.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8.jpe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6.png" Type="http://schemas.openxmlformats.org/officeDocument/2006/relationships/image"/><Relationship Id="rId4" Target="../media/image9.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1.pn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10.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2" Target="../media/image1.png" Type="http://schemas.openxmlformats.org/officeDocument/2006/relationships/image"/><Relationship Id="rId3" Target="../media/image3.pn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518158">
            <a:off x="11271175" y="-549325"/>
            <a:ext cx="6159434" cy="14973834"/>
            <a:chOff x="0" y="0"/>
            <a:chExt cx="1622238" cy="3943726"/>
          </a:xfrm>
        </p:grpSpPr>
        <p:sp>
          <p:nvSpPr>
            <p:cNvPr name="Freeform 3" id="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1A50E"/>
            </a:solidFill>
          </p:spPr>
        </p:sp>
        <p:sp>
          <p:nvSpPr>
            <p:cNvPr name="TextBox 4" id="4"/>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8100000">
            <a:off x="10421514" y="-3691265"/>
            <a:ext cx="3456456" cy="12684271"/>
            <a:chOff x="0" y="0"/>
            <a:chExt cx="910342" cy="3340713"/>
          </a:xfrm>
        </p:grpSpPr>
        <p:sp>
          <p:nvSpPr>
            <p:cNvPr name="Freeform 6" id="6"/>
            <p:cNvSpPr/>
            <p:nvPr/>
          </p:nvSpPr>
          <p:spPr>
            <a:xfrm flipH="false" flipV="false" rot="0">
              <a:off x="0" y="0"/>
              <a:ext cx="910342" cy="3340713"/>
            </a:xfrm>
            <a:custGeom>
              <a:avLst/>
              <a:gdLst/>
              <a:ahLst/>
              <a:cxnLst/>
              <a:rect r="r" b="b" t="t" l="l"/>
              <a:pathLst>
                <a:path h="3340713" w="910342">
                  <a:moveTo>
                    <a:pt x="203200" y="0"/>
                  </a:moveTo>
                  <a:lnTo>
                    <a:pt x="910342" y="0"/>
                  </a:lnTo>
                  <a:lnTo>
                    <a:pt x="707142" y="3340713"/>
                  </a:lnTo>
                  <a:lnTo>
                    <a:pt x="0" y="3340713"/>
                  </a:lnTo>
                  <a:lnTo>
                    <a:pt x="203200" y="0"/>
                  </a:lnTo>
                  <a:close/>
                </a:path>
              </a:pathLst>
            </a:custGeom>
            <a:solidFill>
              <a:srgbClr val="F1A50E"/>
            </a:solidFill>
          </p:spPr>
        </p:sp>
        <p:sp>
          <p:nvSpPr>
            <p:cNvPr name="TextBox 7" id="7"/>
            <p:cNvSpPr txBox="true"/>
            <p:nvPr/>
          </p:nvSpPr>
          <p:spPr>
            <a:xfrm>
              <a:off x="101600" y="-38100"/>
              <a:ext cx="707142" cy="3378813"/>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8100000">
            <a:off x="9068140" y="4791031"/>
            <a:ext cx="6163205" cy="1200452"/>
          </a:xfrm>
          <a:custGeom>
            <a:avLst/>
            <a:gdLst/>
            <a:ahLst/>
            <a:cxnLst/>
            <a:rect r="r" b="b" t="t" l="l"/>
            <a:pathLst>
              <a:path h="1200452" w="6163205">
                <a:moveTo>
                  <a:pt x="0" y="0"/>
                </a:moveTo>
                <a:lnTo>
                  <a:pt x="6163204" y="0"/>
                </a:lnTo>
                <a:lnTo>
                  <a:pt x="6163204" y="1200452"/>
                </a:lnTo>
                <a:lnTo>
                  <a:pt x="0" y="1200452"/>
                </a:lnTo>
                <a:lnTo>
                  <a:pt x="0" y="0"/>
                </a:lnTo>
                <a:close/>
              </a:path>
            </a:pathLst>
          </a:custGeom>
          <a:blipFill>
            <a:blip r:embed="rId2">
              <a:alphaModFix amt="27000"/>
            </a:blip>
            <a:stretch>
              <a:fillRect l="-21357" t="-4375" r="0" b="-4375"/>
            </a:stretch>
          </a:blipFill>
        </p:spPr>
      </p:sp>
      <p:sp>
        <p:nvSpPr>
          <p:cNvPr name="Freeform 9" id="9"/>
          <p:cNvSpPr/>
          <p:nvPr/>
        </p:nvSpPr>
        <p:spPr>
          <a:xfrm flipH="false" flipV="false" rot="-2700000">
            <a:off x="8950979" y="1024961"/>
            <a:ext cx="5343536" cy="1200452"/>
          </a:xfrm>
          <a:custGeom>
            <a:avLst/>
            <a:gdLst/>
            <a:ahLst/>
            <a:cxnLst/>
            <a:rect r="r" b="b" t="t" l="l"/>
            <a:pathLst>
              <a:path h="1200452" w="5343536">
                <a:moveTo>
                  <a:pt x="0" y="0"/>
                </a:moveTo>
                <a:lnTo>
                  <a:pt x="5343536" y="0"/>
                </a:lnTo>
                <a:lnTo>
                  <a:pt x="5343536" y="1200453"/>
                </a:lnTo>
                <a:lnTo>
                  <a:pt x="0" y="1200453"/>
                </a:lnTo>
                <a:lnTo>
                  <a:pt x="0" y="0"/>
                </a:lnTo>
                <a:close/>
              </a:path>
            </a:pathLst>
          </a:custGeom>
          <a:blipFill>
            <a:blip r:embed="rId2">
              <a:alphaModFix amt="27000"/>
            </a:blip>
            <a:stretch>
              <a:fillRect l="0" t="-7391" r="-47734" b="-7391"/>
            </a:stretch>
          </a:blipFill>
        </p:spPr>
      </p:sp>
      <p:grpSp>
        <p:nvGrpSpPr>
          <p:cNvPr name="Group 10" id="10"/>
          <p:cNvGrpSpPr/>
          <p:nvPr/>
        </p:nvGrpSpPr>
        <p:grpSpPr>
          <a:xfrm rot="0">
            <a:off x="9856599" y="-2954947"/>
            <a:ext cx="12407330" cy="12407330"/>
            <a:chOff x="0" y="0"/>
            <a:chExt cx="812800" cy="812800"/>
          </a:xfrm>
        </p:grpSpPr>
        <p:sp>
          <p:nvSpPr>
            <p:cNvPr name="Freeform 11" id="11"/>
            <p:cNvSpPr/>
            <p:nvPr/>
          </p:nvSpPr>
          <p:spPr>
            <a:xfrm flipH="false" flipV="false" rot="0">
              <a:off x="14474" y="14474"/>
              <a:ext cx="783852" cy="783852"/>
            </a:xfrm>
            <a:custGeom>
              <a:avLst/>
              <a:gdLst/>
              <a:ahLst/>
              <a:cxnLst/>
              <a:rect r="r" b="b" t="t" l="l"/>
              <a:pathLst>
                <a:path h="783852" w="783852">
                  <a:moveTo>
                    <a:pt x="416634" y="10234"/>
                  </a:moveTo>
                  <a:lnTo>
                    <a:pt x="773618" y="367218"/>
                  </a:lnTo>
                  <a:cubicBezTo>
                    <a:pt x="780171" y="373771"/>
                    <a:pt x="783852" y="382659"/>
                    <a:pt x="783852" y="391926"/>
                  </a:cubicBezTo>
                  <a:cubicBezTo>
                    <a:pt x="783852" y="401193"/>
                    <a:pt x="780171" y="410081"/>
                    <a:pt x="773618" y="416634"/>
                  </a:cubicBezTo>
                  <a:lnTo>
                    <a:pt x="416634" y="773618"/>
                  </a:lnTo>
                  <a:cubicBezTo>
                    <a:pt x="410081" y="780171"/>
                    <a:pt x="401193" y="783852"/>
                    <a:pt x="391926" y="783852"/>
                  </a:cubicBezTo>
                  <a:cubicBezTo>
                    <a:pt x="382659" y="783852"/>
                    <a:pt x="373771" y="780171"/>
                    <a:pt x="367218" y="773618"/>
                  </a:cubicBezTo>
                  <a:lnTo>
                    <a:pt x="10234" y="416634"/>
                  </a:lnTo>
                  <a:cubicBezTo>
                    <a:pt x="3681" y="410081"/>
                    <a:pt x="0" y="401193"/>
                    <a:pt x="0" y="391926"/>
                  </a:cubicBezTo>
                  <a:cubicBezTo>
                    <a:pt x="0" y="382659"/>
                    <a:pt x="3681" y="373771"/>
                    <a:pt x="10234" y="367218"/>
                  </a:cubicBezTo>
                  <a:lnTo>
                    <a:pt x="367218" y="10234"/>
                  </a:lnTo>
                  <a:cubicBezTo>
                    <a:pt x="373771" y="3681"/>
                    <a:pt x="382659" y="0"/>
                    <a:pt x="391926" y="0"/>
                  </a:cubicBezTo>
                  <a:cubicBezTo>
                    <a:pt x="401193" y="0"/>
                    <a:pt x="410081" y="3681"/>
                    <a:pt x="416634" y="10234"/>
                  </a:cubicBezTo>
                  <a:close/>
                </a:path>
              </a:pathLst>
            </a:custGeom>
            <a:solidFill>
              <a:srgbClr val="FFFFFF"/>
            </a:solidFill>
          </p:spPr>
        </p:sp>
        <p:sp>
          <p:nvSpPr>
            <p:cNvPr name="TextBox 12" id="12"/>
            <p:cNvSpPr txBox="true"/>
            <p:nvPr/>
          </p:nvSpPr>
          <p:spPr>
            <a:xfrm>
              <a:off x="139700" y="101600"/>
              <a:ext cx="533400" cy="571500"/>
            </a:xfrm>
            <a:prstGeom prst="rect">
              <a:avLst/>
            </a:prstGeom>
          </p:spPr>
          <p:txBody>
            <a:bodyPr anchor="ctr" rtlCol="false" tIns="50800" lIns="50800" bIns="50800" rIns="50800"/>
            <a:lstStyle/>
            <a:p>
              <a:pPr algn="ctr">
                <a:lnSpc>
                  <a:spcPts val="3359"/>
                </a:lnSpc>
              </a:pPr>
            </a:p>
          </p:txBody>
        </p:sp>
      </p:grpSp>
      <p:grpSp>
        <p:nvGrpSpPr>
          <p:cNvPr name="Group 13" id="13"/>
          <p:cNvGrpSpPr/>
          <p:nvPr/>
        </p:nvGrpSpPr>
        <p:grpSpPr>
          <a:xfrm rot="0">
            <a:off x="10473113" y="-2338434"/>
            <a:ext cx="11174302" cy="11174302"/>
            <a:chOff x="0" y="0"/>
            <a:chExt cx="812800" cy="812800"/>
          </a:xfrm>
        </p:grpSpPr>
        <p:sp>
          <p:nvSpPr>
            <p:cNvPr name="Freeform 14" id="14"/>
            <p:cNvSpPr/>
            <p:nvPr/>
          </p:nvSpPr>
          <p:spPr>
            <a:xfrm flipH="false" flipV="false" rot="0">
              <a:off x="16071" y="16071"/>
              <a:ext cx="780658" cy="780658"/>
            </a:xfrm>
            <a:custGeom>
              <a:avLst/>
              <a:gdLst/>
              <a:ahLst/>
              <a:cxnLst/>
              <a:rect r="r" b="b" t="t" l="l"/>
              <a:pathLst>
                <a:path h="780658" w="780658">
                  <a:moveTo>
                    <a:pt x="417764" y="11364"/>
                  </a:moveTo>
                  <a:lnTo>
                    <a:pt x="769294" y="362894"/>
                  </a:lnTo>
                  <a:cubicBezTo>
                    <a:pt x="776570" y="370170"/>
                    <a:pt x="780658" y="380039"/>
                    <a:pt x="780658" y="390329"/>
                  </a:cubicBezTo>
                  <a:cubicBezTo>
                    <a:pt x="780658" y="400619"/>
                    <a:pt x="776570" y="410488"/>
                    <a:pt x="769294" y="417764"/>
                  </a:cubicBezTo>
                  <a:lnTo>
                    <a:pt x="417764" y="769294"/>
                  </a:lnTo>
                  <a:cubicBezTo>
                    <a:pt x="410488" y="776570"/>
                    <a:pt x="400619" y="780658"/>
                    <a:pt x="390329" y="780658"/>
                  </a:cubicBezTo>
                  <a:cubicBezTo>
                    <a:pt x="380039" y="780658"/>
                    <a:pt x="370170" y="776570"/>
                    <a:pt x="362894" y="769294"/>
                  </a:cubicBezTo>
                  <a:lnTo>
                    <a:pt x="11364" y="417764"/>
                  </a:lnTo>
                  <a:cubicBezTo>
                    <a:pt x="4088" y="410488"/>
                    <a:pt x="0" y="400619"/>
                    <a:pt x="0" y="390329"/>
                  </a:cubicBezTo>
                  <a:cubicBezTo>
                    <a:pt x="0" y="380039"/>
                    <a:pt x="4088" y="370170"/>
                    <a:pt x="11364" y="362894"/>
                  </a:cubicBezTo>
                  <a:lnTo>
                    <a:pt x="362894" y="11364"/>
                  </a:lnTo>
                  <a:cubicBezTo>
                    <a:pt x="370170" y="4088"/>
                    <a:pt x="380039" y="0"/>
                    <a:pt x="390329" y="0"/>
                  </a:cubicBezTo>
                  <a:cubicBezTo>
                    <a:pt x="400619" y="0"/>
                    <a:pt x="410488" y="4088"/>
                    <a:pt x="417764" y="11364"/>
                  </a:cubicBezTo>
                  <a:close/>
                </a:path>
              </a:pathLst>
            </a:custGeom>
            <a:blipFill>
              <a:blip r:embed="rId3"/>
              <a:stretch>
                <a:fillRect l="0" t="0" r="0" b="0"/>
              </a:stretch>
            </a:blipFill>
          </p:spPr>
        </p:sp>
      </p:grpSp>
      <p:sp>
        <p:nvSpPr>
          <p:cNvPr name="Freeform 15" id="15"/>
          <p:cNvSpPr/>
          <p:nvPr/>
        </p:nvSpPr>
        <p:spPr>
          <a:xfrm flipH="false" flipV="false" rot="-8100000">
            <a:off x="12573652" y="7301712"/>
            <a:ext cx="771811" cy="4301341"/>
          </a:xfrm>
          <a:custGeom>
            <a:avLst/>
            <a:gdLst/>
            <a:ahLst/>
            <a:cxnLst/>
            <a:rect r="r" b="b" t="t" l="l"/>
            <a:pathLst>
              <a:path h="4301341" w="771811">
                <a:moveTo>
                  <a:pt x="0" y="0"/>
                </a:moveTo>
                <a:lnTo>
                  <a:pt x="771811" y="0"/>
                </a:lnTo>
                <a:lnTo>
                  <a:pt x="771811" y="4301341"/>
                </a:lnTo>
                <a:lnTo>
                  <a:pt x="0" y="4301341"/>
                </a:lnTo>
                <a:lnTo>
                  <a:pt x="0" y="0"/>
                </a:lnTo>
                <a:close/>
              </a:path>
            </a:pathLst>
          </a:custGeom>
          <a:blipFill>
            <a:blip r:embed="rId4"/>
            <a:stretch>
              <a:fillRect l="-105286" t="0" r="-14595" b="0"/>
            </a:stretch>
          </a:blipFill>
        </p:spPr>
      </p:sp>
      <p:grpSp>
        <p:nvGrpSpPr>
          <p:cNvPr name="Group 16" id="16"/>
          <p:cNvGrpSpPr/>
          <p:nvPr/>
        </p:nvGrpSpPr>
        <p:grpSpPr>
          <a:xfrm rot="2518158">
            <a:off x="14145413" y="3669099"/>
            <a:ext cx="4184293" cy="10172185"/>
            <a:chOff x="0" y="0"/>
            <a:chExt cx="1622238" cy="3943726"/>
          </a:xfrm>
        </p:grpSpPr>
        <p:sp>
          <p:nvSpPr>
            <p:cNvPr name="Freeform 17" id="1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FDE59"/>
            </a:solidFill>
          </p:spPr>
        </p:sp>
        <p:sp>
          <p:nvSpPr>
            <p:cNvPr name="TextBox 18" id="18"/>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9" id="19"/>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2">
              <a:alphaModFix amt="27000"/>
            </a:blip>
            <a:stretch>
              <a:fillRect l="-22095" t="0" r="-3456" b="0"/>
            </a:stretch>
          </a:blipFill>
        </p:spPr>
      </p:sp>
      <p:grpSp>
        <p:nvGrpSpPr>
          <p:cNvPr name="Group 20" id="20"/>
          <p:cNvGrpSpPr/>
          <p:nvPr/>
        </p:nvGrpSpPr>
        <p:grpSpPr>
          <a:xfrm rot="2518158">
            <a:off x="16423857" y="5465352"/>
            <a:ext cx="3280102" cy="7974061"/>
            <a:chOff x="0" y="0"/>
            <a:chExt cx="1622238" cy="3943726"/>
          </a:xfrm>
        </p:grpSpPr>
        <p:sp>
          <p:nvSpPr>
            <p:cNvPr name="Freeform 21" id="21"/>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22" id="22"/>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TextBox 23" id="23"/>
          <p:cNvSpPr txBox="true"/>
          <p:nvPr/>
        </p:nvSpPr>
        <p:spPr>
          <a:xfrm rot="0">
            <a:off x="1767433" y="6135384"/>
            <a:ext cx="8089166" cy="2352932"/>
          </a:xfrm>
          <a:prstGeom prst="rect">
            <a:avLst/>
          </a:prstGeom>
        </p:spPr>
        <p:txBody>
          <a:bodyPr anchor="t" rtlCol="false" tIns="0" lIns="0" bIns="0" rIns="0">
            <a:spAutoFit/>
          </a:bodyPr>
          <a:lstStyle/>
          <a:p>
            <a:pPr algn="l">
              <a:lnSpc>
                <a:spcPts val="19258"/>
              </a:lnSpc>
            </a:pPr>
            <a:r>
              <a:rPr lang="en-US" b="true" sz="13756">
                <a:solidFill>
                  <a:srgbClr val="000000"/>
                </a:solidFill>
                <a:latin typeface="Garet Bold"/>
                <a:ea typeface="Garet Bold"/>
                <a:cs typeface="Garet Bold"/>
                <a:sym typeface="Garet Bold"/>
              </a:rPr>
              <a:t>PROFILE</a:t>
            </a:r>
          </a:p>
        </p:txBody>
      </p:sp>
      <p:sp>
        <p:nvSpPr>
          <p:cNvPr name="TextBox 24" id="24"/>
          <p:cNvSpPr txBox="true"/>
          <p:nvPr/>
        </p:nvSpPr>
        <p:spPr>
          <a:xfrm rot="0">
            <a:off x="1916033" y="5498484"/>
            <a:ext cx="6135648" cy="1323815"/>
          </a:xfrm>
          <a:prstGeom prst="rect">
            <a:avLst/>
          </a:prstGeom>
        </p:spPr>
        <p:txBody>
          <a:bodyPr anchor="t" rtlCol="false" tIns="0" lIns="0" bIns="0" rIns="0">
            <a:spAutoFit/>
          </a:bodyPr>
          <a:lstStyle/>
          <a:p>
            <a:pPr algn="l">
              <a:lnSpc>
                <a:spcPts val="10829"/>
              </a:lnSpc>
            </a:pPr>
            <a:r>
              <a:rPr lang="en-US" b="true" sz="7735">
                <a:solidFill>
                  <a:srgbClr val="000000"/>
                </a:solidFill>
                <a:latin typeface="Garet Bold"/>
                <a:ea typeface="Garet Bold"/>
                <a:cs typeface="Garet Bold"/>
                <a:sym typeface="Garet Bold"/>
              </a:rPr>
              <a:t>COMPANY</a:t>
            </a:r>
          </a:p>
        </p:txBody>
      </p:sp>
      <p:sp>
        <p:nvSpPr>
          <p:cNvPr name="TextBox 25" id="25"/>
          <p:cNvSpPr txBox="true"/>
          <p:nvPr/>
        </p:nvSpPr>
        <p:spPr>
          <a:xfrm rot="0">
            <a:off x="1767433" y="8919500"/>
            <a:ext cx="4443667" cy="437894"/>
          </a:xfrm>
          <a:prstGeom prst="rect">
            <a:avLst/>
          </a:prstGeom>
        </p:spPr>
        <p:txBody>
          <a:bodyPr anchor="t" rtlCol="false" tIns="0" lIns="0" bIns="0" rIns="0">
            <a:spAutoFit/>
          </a:bodyPr>
          <a:lstStyle/>
          <a:p>
            <a:pPr algn="ctr">
              <a:lnSpc>
                <a:spcPts val="3689"/>
              </a:lnSpc>
            </a:pPr>
            <a:r>
              <a:rPr lang="en-US" b="true" sz="2635">
                <a:solidFill>
                  <a:srgbClr val="F1A50E"/>
                </a:solidFill>
                <a:latin typeface="Garet Bold"/>
                <a:ea typeface="Garet Bold"/>
                <a:cs typeface="Garet Bold"/>
                <a:sym typeface="Garet Bold"/>
              </a:rPr>
              <a:t>www.sinatrading.et</a:t>
            </a:r>
          </a:p>
        </p:txBody>
      </p:sp>
      <p:grpSp>
        <p:nvGrpSpPr>
          <p:cNvPr name="Group 26" id="26"/>
          <p:cNvGrpSpPr/>
          <p:nvPr/>
        </p:nvGrpSpPr>
        <p:grpSpPr>
          <a:xfrm rot="0">
            <a:off x="1966064" y="497937"/>
            <a:ext cx="6085618" cy="4645563"/>
            <a:chOff x="0" y="0"/>
            <a:chExt cx="8114157" cy="6194084"/>
          </a:xfrm>
        </p:grpSpPr>
        <p:sp>
          <p:nvSpPr>
            <p:cNvPr name="Freeform 27" id="27"/>
            <p:cNvSpPr/>
            <p:nvPr/>
          </p:nvSpPr>
          <p:spPr>
            <a:xfrm flipH="false" flipV="false" rot="0">
              <a:off x="955221" y="0"/>
              <a:ext cx="6203715" cy="3417361"/>
            </a:xfrm>
            <a:custGeom>
              <a:avLst/>
              <a:gdLst/>
              <a:ahLst/>
              <a:cxnLst/>
              <a:rect r="r" b="b" t="t" l="l"/>
              <a:pathLst>
                <a:path h="3417361" w="6203715">
                  <a:moveTo>
                    <a:pt x="0" y="0"/>
                  </a:moveTo>
                  <a:lnTo>
                    <a:pt x="6203715" y="0"/>
                  </a:lnTo>
                  <a:lnTo>
                    <a:pt x="6203715" y="3417361"/>
                  </a:lnTo>
                  <a:lnTo>
                    <a:pt x="0" y="341736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1453934" y="3205668"/>
              <a:ext cx="5206288" cy="1521326"/>
            </a:xfrm>
            <a:prstGeom prst="rect">
              <a:avLst/>
            </a:prstGeom>
          </p:spPr>
          <p:txBody>
            <a:bodyPr anchor="t" rtlCol="false" tIns="0" lIns="0" bIns="0" rIns="0">
              <a:spAutoFit/>
            </a:bodyPr>
            <a:lstStyle/>
            <a:p>
              <a:pPr algn="ctr">
                <a:lnSpc>
                  <a:spcPts val="10380"/>
                </a:lnSpc>
              </a:pPr>
              <a:r>
                <a:rPr lang="en-US" b="true" sz="6105">
                  <a:solidFill>
                    <a:srgbClr val="000000"/>
                  </a:solidFill>
                  <a:latin typeface="Barlow Bold"/>
                  <a:ea typeface="Barlow Bold"/>
                  <a:cs typeface="Barlow Bold"/>
                  <a:sym typeface="Barlow Bold"/>
                </a:rPr>
                <a:t>SINA</a:t>
              </a:r>
            </a:p>
          </p:txBody>
        </p:sp>
        <p:sp>
          <p:nvSpPr>
            <p:cNvPr name="TextBox 29" id="29"/>
            <p:cNvSpPr txBox="true"/>
            <p:nvPr/>
          </p:nvSpPr>
          <p:spPr>
            <a:xfrm rot="0">
              <a:off x="0" y="4546019"/>
              <a:ext cx="8114157" cy="891151"/>
            </a:xfrm>
            <a:prstGeom prst="rect">
              <a:avLst/>
            </a:prstGeom>
          </p:spPr>
          <p:txBody>
            <a:bodyPr anchor="t" rtlCol="false" tIns="0" lIns="0" bIns="0" rIns="0">
              <a:spAutoFit/>
            </a:bodyPr>
            <a:lstStyle/>
            <a:p>
              <a:pPr algn="ctr">
                <a:lnSpc>
                  <a:spcPts val="6111"/>
                </a:lnSpc>
              </a:pPr>
              <a:r>
                <a:rPr lang="en-US" b="true" sz="3594" spc="165">
                  <a:solidFill>
                    <a:srgbClr val="000000"/>
                  </a:solidFill>
                  <a:latin typeface="Barlow Semi-Bold"/>
                  <a:ea typeface="Barlow Semi-Bold"/>
                  <a:cs typeface="Barlow Semi-Bold"/>
                  <a:sym typeface="Barlow Semi-Bold"/>
                </a:rPr>
                <a:t>SUPPLIES AND LOGISTICS</a:t>
              </a:r>
            </a:p>
          </p:txBody>
        </p:sp>
        <p:sp>
          <p:nvSpPr>
            <p:cNvPr name="TextBox 30" id="30"/>
            <p:cNvSpPr txBox="true"/>
            <p:nvPr/>
          </p:nvSpPr>
          <p:spPr>
            <a:xfrm rot="0">
              <a:off x="0" y="5607637"/>
              <a:ext cx="8114157" cy="586447"/>
            </a:xfrm>
            <a:prstGeom prst="rect">
              <a:avLst/>
            </a:prstGeom>
          </p:spPr>
          <p:txBody>
            <a:bodyPr anchor="t" rtlCol="false" tIns="0" lIns="0" bIns="0" rIns="0">
              <a:spAutoFit/>
            </a:bodyPr>
            <a:lstStyle/>
            <a:p>
              <a:pPr algn="ctr">
                <a:lnSpc>
                  <a:spcPts val="4144"/>
                </a:lnSpc>
              </a:pPr>
              <a:r>
                <a:rPr lang="en-US" b="true" sz="2438" spc="468">
                  <a:solidFill>
                    <a:srgbClr val="F1A50E"/>
                  </a:solidFill>
                  <a:latin typeface="Canva Sans Bold"/>
                  <a:ea typeface="Canva Sans Bold"/>
                  <a:cs typeface="Canva Sans Bold"/>
                  <a:sym typeface="Canva Sans Bold"/>
                </a:rPr>
                <a:t>Your Goods, Our Priority</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313141" y="4151763"/>
            <a:ext cx="9650065" cy="1200452"/>
          </a:xfrm>
          <a:custGeom>
            <a:avLst/>
            <a:gdLst/>
            <a:ahLst/>
            <a:cxnLst/>
            <a:rect r="r" b="b" t="t" l="l"/>
            <a:pathLst>
              <a:path h="1200452" w="9650065">
                <a:moveTo>
                  <a:pt x="0" y="0"/>
                </a:moveTo>
                <a:lnTo>
                  <a:pt x="9650065" y="0"/>
                </a:lnTo>
                <a:lnTo>
                  <a:pt x="9650065" y="1200453"/>
                </a:lnTo>
                <a:lnTo>
                  <a:pt x="0" y="1200453"/>
                </a:lnTo>
                <a:lnTo>
                  <a:pt x="0" y="0"/>
                </a:lnTo>
                <a:close/>
              </a:path>
            </a:pathLst>
          </a:custGeom>
          <a:blipFill>
            <a:blip r:embed="rId2">
              <a:alphaModFix amt="13000"/>
            </a:blip>
            <a:stretch>
              <a:fillRect l="0" t="-20155" r="0" b="-20155"/>
            </a:stretch>
          </a:blipFill>
        </p:spPr>
      </p:sp>
      <p:sp>
        <p:nvSpPr>
          <p:cNvPr name="Freeform 3" id="3"/>
          <p:cNvSpPr/>
          <p:nvPr/>
        </p:nvSpPr>
        <p:spPr>
          <a:xfrm flipH="false" flipV="false" rot="8100000">
            <a:off x="1628656" y="8674551"/>
            <a:ext cx="5343536" cy="1200452"/>
          </a:xfrm>
          <a:custGeom>
            <a:avLst/>
            <a:gdLst/>
            <a:ahLst/>
            <a:cxnLst/>
            <a:rect r="r" b="b" t="t" l="l"/>
            <a:pathLst>
              <a:path h="1200452" w="5343536">
                <a:moveTo>
                  <a:pt x="0" y="0"/>
                </a:moveTo>
                <a:lnTo>
                  <a:pt x="5343536" y="0"/>
                </a:lnTo>
                <a:lnTo>
                  <a:pt x="5343536" y="1200452"/>
                </a:lnTo>
                <a:lnTo>
                  <a:pt x="0" y="1200452"/>
                </a:lnTo>
                <a:lnTo>
                  <a:pt x="0" y="0"/>
                </a:lnTo>
                <a:close/>
              </a:path>
            </a:pathLst>
          </a:custGeom>
          <a:blipFill>
            <a:blip r:embed="rId2">
              <a:alphaModFix amt="19999"/>
            </a:blip>
            <a:stretch>
              <a:fillRect l="0" t="-7391" r="-47734" b="-7391"/>
            </a:stretch>
          </a:blipFill>
        </p:spPr>
      </p:sp>
      <p:grpSp>
        <p:nvGrpSpPr>
          <p:cNvPr name="Group 4" id="4"/>
          <p:cNvGrpSpPr/>
          <p:nvPr/>
        </p:nvGrpSpPr>
        <p:grpSpPr>
          <a:xfrm rot="-10800000">
            <a:off x="-6424337" y="1652165"/>
            <a:ext cx="12407330" cy="12407330"/>
            <a:chOff x="0" y="0"/>
            <a:chExt cx="812800" cy="812800"/>
          </a:xfrm>
        </p:grpSpPr>
        <p:sp>
          <p:nvSpPr>
            <p:cNvPr name="Freeform 5" id="5"/>
            <p:cNvSpPr/>
            <p:nvPr/>
          </p:nvSpPr>
          <p:spPr>
            <a:xfrm flipH="false" flipV="false" rot="0">
              <a:off x="14474" y="14474"/>
              <a:ext cx="783852" cy="783852"/>
            </a:xfrm>
            <a:custGeom>
              <a:avLst/>
              <a:gdLst/>
              <a:ahLst/>
              <a:cxnLst/>
              <a:rect r="r" b="b" t="t" l="l"/>
              <a:pathLst>
                <a:path h="783852" w="783852">
                  <a:moveTo>
                    <a:pt x="416634" y="10234"/>
                  </a:moveTo>
                  <a:lnTo>
                    <a:pt x="773618" y="367218"/>
                  </a:lnTo>
                  <a:cubicBezTo>
                    <a:pt x="780171" y="373771"/>
                    <a:pt x="783852" y="382659"/>
                    <a:pt x="783852" y="391926"/>
                  </a:cubicBezTo>
                  <a:cubicBezTo>
                    <a:pt x="783852" y="401193"/>
                    <a:pt x="780171" y="410081"/>
                    <a:pt x="773618" y="416634"/>
                  </a:cubicBezTo>
                  <a:lnTo>
                    <a:pt x="416634" y="773618"/>
                  </a:lnTo>
                  <a:cubicBezTo>
                    <a:pt x="410081" y="780171"/>
                    <a:pt x="401193" y="783852"/>
                    <a:pt x="391926" y="783852"/>
                  </a:cubicBezTo>
                  <a:cubicBezTo>
                    <a:pt x="382659" y="783852"/>
                    <a:pt x="373771" y="780171"/>
                    <a:pt x="367218" y="773618"/>
                  </a:cubicBezTo>
                  <a:lnTo>
                    <a:pt x="10234" y="416634"/>
                  </a:lnTo>
                  <a:cubicBezTo>
                    <a:pt x="3681" y="410081"/>
                    <a:pt x="0" y="401193"/>
                    <a:pt x="0" y="391926"/>
                  </a:cubicBezTo>
                  <a:cubicBezTo>
                    <a:pt x="0" y="382659"/>
                    <a:pt x="3681" y="373771"/>
                    <a:pt x="10234" y="367218"/>
                  </a:cubicBezTo>
                  <a:lnTo>
                    <a:pt x="367218" y="10234"/>
                  </a:lnTo>
                  <a:cubicBezTo>
                    <a:pt x="373771" y="3681"/>
                    <a:pt x="382659" y="0"/>
                    <a:pt x="391926" y="0"/>
                  </a:cubicBezTo>
                  <a:cubicBezTo>
                    <a:pt x="401193" y="0"/>
                    <a:pt x="410081" y="3681"/>
                    <a:pt x="416634" y="10234"/>
                  </a:cubicBezTo>
                  <a:close/>
                </a:path>
              </a:pathLst>
            </a:custGeom>
            <a:solidFill>
              <a:srgbClr val="FFFFFF"/>
            </a:solidFill>
          </p:spPr>
        </p:sp>
        <p:sp>
          <p:nvSpPr>
            <p:cNvPr name="TextBox 6" id="6"/>
            <p:cNvSpPr txBox="true"/>
            <p:nvPr/>
          </p:nvSpPr>
          <p:spPr>
            <a:xfrm>
              <a:off x="139700" y="101600"/>
              <a:ext cx="533400" cy="571500"/>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8100000">
            <a:off x="12451650" y="-2663184"/>
            <a:ext cx="3456456" cy="11815284"/>
            <a:chOff x="0" y="0"/>
            <a:chExt cx="910342" cy="3111844"/>
          </a:xfrm>
        </p:grpSpPr>
        <p:sp>
          <p:nvSpPr>
            <p:cNvPr name="Freeform 8" id="8"/>
            <p:cNvSpPr/>
            <p:nvPr/>
          </p:nvSpPr>
          <p:spPr>
            <a:xfrm flipH="false" flipV="false" rot="0">
              <a:off x="0" y="0"/>
              <a:ext cx="910342" cy="3111844"/>
            </a:xfrm>
            <a:custGeom>
              <a:avLst/>
              <a:gdLst/>
              <a:ahLst/>
              <a:cxnLst/>
              <a:rect r="r" b="b" t="t" l="l"/>
              <a:pathLst>
                <a:path h="3111844" w="910342">
                  <a:moveTo>
                    <a:pt x="203200" y="0"/>
                  </a:moveTo>
                  <a:lnTo>
                    <a:pt x="910342" y="0"/>
                  </a:lnTo>
                  <a:lnTo>
                    <a:pt x="707142" y="3111844"/>
                  </a:lnTo>
                  <a:lnTo>
                    <a:pt x="0" y="3111844"/>
                  </a:lnTo>
                  <a:lnTo>
                    <a:pt x="203200" y="0"/>
                  </a:lnTo>
                  <a:close/>
                </a:path>
              </a:pathLst>
            </a:custGeom>
            <a:solidFill>
              <a:srgbClr val="F1A50E"/>
            </a:solidFill>
          </p:spPr>
        </p:sp>
        <p:sp>
          <p:nvSpPr>
            <p:cNvPr name="TextBox 9" id="9"/>
            <p:cNvSpPr txBox="true"/>
            <p:nvPr/>
          </p:nvSpPr>
          <p:spPr>
            <a:xfrm>
              <a:off x="101600" y="-38100"/>
              <a:ext cx="707142" cy="3149944"/>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2587936">
            <a:off x="14631524" y="-2632454"/>
            <a:ext cx="4184293" cy="10172185"/>
            <a:chOff x="0" y="0"/>
            <a:chExt cx="1622238" cy="3943726"/>
          </a:xfrm>
        </p:grpSpPr>
        <p:sp>
          <p:nvSpPr>
            <p:cNvPr name="Freeform 11" id="11"/>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FDE59"/>
            </a:solidFill>
          </p:spPr>
        </p:sp>
        <p:sp>
          <p:nvSpPr>
            <p:cNvPr name="TextBox 12" id="12"/>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3" id="13"/>
          <p:cNvSpPr/>
          <p:nvPr/>
        </p:nvSpPr>
        <p:spPr>
          <a:xfrm flipH="false" flipV="false" rot="-7806094">
            <a:off x="10356763" y="551921"/>
            <a:ext cx="5477894" cy="1200452"/>
          </a:xfrm>
          <a:custGeom>
            <a:avLst/>
            <a:gdLst/>
            <a:ahLst/>
            <a:cxnLst/>
            <a:rect r="r" b="b" t="t" l="l"/>
            <a:pathLst>
              <a:path h="1200452" w="5477894">
                <a:moveTo>
                  <a:pt x="0" y="0"/>
                </a:moveTo>
                <a:lnTo>
                  <a:pt x="5477893" y="0"/>
                </a:lnTo>
                <a:lnTo>
                  <a:pt x="5477893" y="1200452"/>
                </a:lnTo>
                <a:lnTo>
                  <a:pt x="0" y="1200452"/>
                </a:lnTo>
                <a:lnTo>
                  <a:pt x="0" y="0"/>
                </a:lnTo>
                <a:close/>
              </a:path>
            </a:pathLst>
          </a:custGeom>
          <a:blipFill>
            <a:blip r:embed="rId2">
              <a:alphaModFix amt="27000"/>
            </a:blip>
            <a:stretch>
              <a:fillRect l="-22095" t="0" r="-3456" b="0"/>
            </a:stretch>
          </a:blipFill>
        </p:spPr>
      </p:sp>
      <p:sp>
        <p:nvSpPr>
          <p:cNvPr name="Freeform 14" id="14"/>
          <p:cNvSpPr/>
          <p:nvPr/>
        </p:nvSpPr>
        <p:spPr>
          <a:xfrm flipH="false" flipV="false" rot="2700000">
            <a:off x="9024937" y="6754349"/>
            <a:ext cx="9126703" cy="2389537"/>
          </a:xfrm>
          <a:custGeom>
            <a:avLst/>
            <a:gdLst/>
            <a:ahLst/>
            <a:cxnLst/>
            <a:rect r="r" b="b" t="t" l="l"/>
            <a:pathLst>
              <a:path h="2389537" w="9126703">
                <a:moveTo>
                  <a:pt x="0" y="0"/>
                </a:moveTo>
                <a:lnTo>
                  <a:pt x="9126703" y="0"/>
                </a:lnTo>
                <a:lnTo>
                  <a:pt x="9126703" y="2389537"/>
                </a:lnTo>
                <a:lnTo>
                  <a:pt x="0" y="2389537"/>
                </a:lnTo>
                <a:lnTo>
                  <a:pt x="0" y="0"/>
                </a:lnTo>
                <a:close/>
              </a:path>
            </a:pathLst>
          </a:custGeom>
          <a:blipFill>
            <a:blip r:embed="rId3">
              <a:alphaModFix amt="53000"/>
            </a:blip>
            <a:stretch>
              <a:fillRect l="0" t="0" r="0" b="0"/>
            </a:stretch>
          </a:blipFill>
        </p:spPr>
      </p:sp>
      <p:grpSp>
        <p:nvGrpSpPr>
          <p:cNvPr name="Group 15" id="15"/>
          <p:cNvGrpSpPr/>
          <p:nvPr/>
        </p:nvGrpSpPr>
        <p:grpSpPr>
          <a:xfrm rot="0">
            <a:off x="10601736" y="224334"/>
            <a:ext cx="10351611" cy="10351611"/>
            <a:chOff x="0" y="0"/>
            <a:chExt cx="812800" cy="812800"/>
          </a:xfrm>
        </p:grpSpPr>
        <p:sp>
          <p:nvSpPr>
            <p:cNvPr name="Freeform 16" id="16"/>
            <p:cNvSpPr/>
            <p:nvPr/>
          </p:nvSpPr>
          <p:spPr>
            <a:xfrm flipH="false" flipV="false" rot="0">
              <a:off x="17348" y="17348"/>
              <a:ext cx="778104" cy="778104"/>
            </a:xfrm>
            <a:custGeom>
              <a:avLst/>
              <a:gdLst/>
              <a:ahLst/>
              <a:cxnLst/>
              <a:rect r="r" b="b" t="t" l="l"/>
              <a:pathLst>
                <a:path h="778104" w="778104">
                  <a:moveTo>
                    <a:pt x="418667" y="12267"/>
                  </a:moveTo>
                  <a:lnTo>
                    <a:pt x="765837" y="359437"/>
                  </a:lnTo>
                  <a:cubicBezTo>
                    <a:pt x="773691" y="367291"/>
                    <a:pt x="778104" y="377944"/>
                    <a:pt x="778104" y="389052"/>
                  </a:cubicBezTo>
                  <a:cubicBezTo>
                    <a:pt x="778104" y="400160"/>
                    <a:pt x="773691" y="410813"/>
                    <a:pt x="765837" y="418667"/>
                  </a:cubicBezTo>
                  <a:lnTo>
                    <a:pt x="418667" y="765837"/>
                  </a:lnTo>
                  <a:cubicBezTo>
                    <a:pt x="410813" y="773691"/>
                    <a:pt x="400160" y="778104"/>
                    <a:pt x="389052" y="778104"/>
                  </a:cubicBezTo>
                  <a:cubicBezTo>
                    <a:pt x="377944" y="778104"/>
                    <a:pt x="367291" y="773691"/>
                    <a:pt x="359437" y="765837"/>
                  </a:cubicBezTo>
                  <a:lnTo>
                    <a:pt x="12267" y="418667"/>
                  </a:lnTo>
                  <a:cubicBezTo>
                    <a:pt x="4413" y="410813"/>
                    <a:pt x="0" y="400160"/>
                    <a:pt x="0" y="389052"/>
                  </a:cubicBezTo>
                  <a:cubicBezTo>
                    <a:pt x="0" y="377944"/>
                    <a:pt x="4413" y="367291"/>
                    <a:pt x="12267" y="359437"/>
                  </a:cubicBezTo>
                  <a:lnTo>
                    <a:pt x="359437" y="12267"/>
                  </a:lnTo>
                  <a:cubicBezTo>
                    <a:pt x="367291" y="4413"/>
                    <a:pt x="377944" y="0"/>
                    <a:pt x="389052" y="0"/>
                  </a:cubicBezTo>
                  <a:cubicBezTo>
                    <a:pt x="400160" y="0"/>
                    <a:pt x="410813" y="4413"/>
                    <a:pt x="418667" y="12267"/>
                  </a:cubicBezTo>
                  <a:close/>
                </a:path>
              </a:pathLst>
            </a:custGeom>
            <a:solidFill>
              <a:srgbClr val="FFFFFF"/>
            </a:solidFill>
          </p:spPr>
        </p:sp>
        <p:sp>
          <p:nvSpPr>
            <p:cNvPr name="TextBox 17" id="17"/>
            <p:cNvSpPr txBox="true"/>
            <p:nvPr/>
          </p:nvSpPr>
          <p:spPr>
            <a:xfrm>
              <a:off x="139700" y="101600"/>
              <a:ext cx="533400" cy="571500"/>
            </a:xfrm>
            <a:prstGeom prst="rect">
              <a:avLst/>
            </a:prstGeom>
          </p:spPr>
          <p:txBody>
            <a:bodyPr anchor="ctr" rtlCol="false" tIns="42383" lIns="42383" bIns="42383" rIns="42383"/>
            <a:lstStyle/>
            <a:p>
              <a:pPr algn="ctr">
                <a:lnSpc>
                  <a:spcPts val="3359"/>
                </a:lnSpc>
              </a:pPr>
            </a:p>
          </p:txBody>
        </p:sp>
      </p:grpSp>
      <p:grpSp>
        <p:nvGrpSpPr>
          <p:cNvPr name="Group 18" id="18"/>
          <p:cNvGrpSpPr/>
          <p:nvPr/>
        </p:nvGrpSpPr>
        <p:grpSpPr>
          <a:xfrm rot="0">
            <a:off x="11116103" y="738700"/>
            <a:ext cx="9322879" cy="9322879"/>
            <a:chOff x="0" y="0"/>
            <a:chExt cx="812800" cy="812800"/>
          </a:xfrm>
        </p:grpSpPr>
        <p:sp>
          <p:nvSpPr>
            <p:cNvPr name="Freeform 19" id="19"/>
            <p:cNvSpPr/>
            <p:nvPr/>
          </p:nvSpPr>
          <p:spPr>
            <a:xfrm flipH="false" flipV="false" rot="0">
              <a:off x="19262" y="19262"/>
              <a:ext cx="774275" cy="774275"/>
            </a:xfrm>
            <a:custGeom>
              <a:avLst/>
              <a:gdLst/>
              <a:ahLst/>
              <a:cxnLst/>
              <a:rect r="r" b="b" t="t" l="l"/>
              <a:pathLst>
                <a:path h="774275" w="774275">
                  <a:moveTo>
                    <a:pt x="420021" y="13621"/>
                  </a:moveTo>
                  <a:lnTo>
                    <a:pt x="760655" y="354255"/>
                  </a:lnTo>
                  <a:cubicBezTo>
                    <a:pt x="778816" y="372416"/>
                    <a:pt x="778816" y="401860"/>
                    <a:pt x="760655" y="420021"/>
                  </a:cubicBezTo>
                  <a:lnTo>
                    <a:pt x="420021" y="760655"/>
                  </a:lnTo>
                  <a:cubicBezTo>
                    <a:pt x="401860" y="778816"/>
                    <a:pt x="372416" y="778816"/>
                    <a:pt x="354255" y="760655"/>
                  </a:cubicBezTo>
                  <a:lnTo>
                    <a:pt x="13621" y="420021"/>
                  </a:lnTo>
                  <a:cubicBezTo>
                    <a:pt x="-4540" y="401860"/>
                    <a:pt x="-4540" y="372416"/>
                    <a:pt x="13621" y="354255"/>
                  </a:cubicBezTo>
                  <a:lnTo>
                    <a:pt x="354255" y="13621"/>
                  </a:lnTo>
                  <a:cubicBezTo>
                    <a:pt x="372416" y="-4540"/>
                    <a:pt x="401860" y="-4540"/>
                    <a:pt x="420021" y="13621"/>
                  </a:cubicBezTo>
                  <a:close/>
                </a:path>
              </a:pathLst>
            </a:custGeom>
            <a:blipFill>
              <a:blip r:embed="rId4"/>
              <a:stretch>
                <a:fillRect l="0" t="0" r="0" b="0"/>
              </a:stretch>
            </a:blipFill>
          </p:spPr>
        </p:sp>
      </p:grpSp>
      <p:sp>
        <p:nvSpPr>
          <p:cNvPr name="Freeform 20" id="20"/>
          <p:cNvSpPr/>
          <p:nvPr/>
        </p:nvSpPr>
        <p:spPr>
          <a:xfrm flipH="false" flipV="false" rot="-7806094">
            <a:off x="14034241" y="1275625"/>
            <a:ext cx="5477894" cy="1200452"/>
          </a:xfrm>
          <a:custGeom>
            <a:avLst/>
            <a:gdLst/>
            <a:ahLst/>
            <a:cxnLst/>
            <a:rect r="r" b="b" t="t" l="l"/>
            <a:pathLst>
              <a:path h="1200452" w="5477894">
                <a:moveTo>
                  <a:pt x="0" y="0"/>
                </a:moveTo>
                <a:lnTo>
                  <a:pt x="5477894" y="0"/>
                </a:lnTo>
                <a:lnTo>
                  <a:pt x="5477894" y="1200452"/>
                </a:lnTo>
                <a:lnTo>
                  <a:pt x="0" y="1200452"/>
                </a:lnTo>
                <a:lnTo>
                  <a:pt x="0" y="0"/>
                </a:lnTo>
                <a:close/>
              </a:path>
            </a:pathLst>
          </a:custGeom>
          <a:blipFill>
            <a:blip r:embed="rId2">
              <a:alphaModFix amt="27000"/>
            </a:blip>
            <a:stretch>
              <a:fillRect l="-22095" t="0" r="-3456" b="0"/>
            </a:stretch>
          </a:blipFill>
        </p:spPr>
      </p:sp>
      <p:grpSp>
        <p:nvGrpSpPr>
          <p:cNvPr name="Group 21" id="21"/>
          <p:cNvGrpSpPr/>
          <p:nvPr/>
        </p:nvGrpSpPr>
        <p:grpSpPr>
          <a:xfrm rot="-2587936">
            <a:off x="15934215" y="-3293537"/>
            <a:ext cx="3280102" cy="7974061"/>
            <a:chOff x="0" y="0"/>
            <a:chExt cx="1622238" cy="3943726"/>
          </a:xfrm>
        </p:grpSpPr>
        <p:sp>
          <p:nvSpPr>
            <p:cNvPr name="Freeform 22" id="22"/>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23" id="23"/>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TextBox 24" id="24"/>
          <p:cNvSpPr txBox="true"/>
          <p:nvPr/>
        </p:nvSpPr>
        <p:spPr>
          <a:xfrm rot="0">
            <a:off x="1747648" y="1833140"/>
            <a:ext cx="9124668" cy="775335"/>
          </a:xfrm>
          <a:prstGeom prst="rect">
            <a:avLst/>
          </a:prstGeom>
        </p:spPr>
        <p:txBody>
          <a:bodyPr anchor="t" rtlCol="false" tIns="0" lIns="0" bIns="0" rIns="0">
            <a:spAutoFit/>
          </a:bodyPr>
          <a:lstStyle/>
          <a:p>
            <a:pPr algn="l">
              <a:lnSpc>
                <a:spcPts val="5820"/>
              </a:lnSpc>
            </a:pPr>
            <a:r>
              <a:rPr lang="en-US" b="true" sz="6000" spc="282">
                <a:solidFill>
                  <a:srgbClr val="F1A50E"/>
                </a:solidFill>
                <a:latin typeface="Garet Bold"/>
                <a:ea typeface="Garet Bold"/>
                <a:cs typeface="Garet Bold"/>
                <a:sym typeface="Garet Bold"/>
              </a:rPr>
              <a:t>COMPANY OVERVIEW</a:t>
            </a:r>
          </a:p>
        </p:txBody>
      </p:sp>
      <p:sp>
        <p:nvSpPr>
          <p:cNvPr name="TextBox 25" id="25"/>
          <p:cNvSpPr txBox="true"/>
          <p:nvPr/>
        </p:nvSpPr>
        <p:spPr>
          <a:xfrm rot="0">
            <a:off x="1747648" y="2885399"/>
            <a:ext cx="8854088" cy="3105150"/>
          </a:xfrm>
          <a:prstGeom prst="rect">
            <a:avLst/>
          </a:prstGeom>
        </p:spPr>
        <p:txBody>
          <a:bodyPr anchor="t" rtlCol="false" tIns="0" lIns="0" bIns="0" rIns="0">
            <a:spAutoFit/>
          </a:bodyPr>
          <a:lstStyle/>
          <a:p>
            <a:pPr algn="just">
              <a:lnSpc>
                <a:spcPts val="3569"/>
              </a:lnSpc>
            </a:pPr>
            <a:r>
              <a:rPr lang="en-US" sz="2100" spc="23">
                <a:solidFill>
                  <a:srgbClr val="000000"/>
                </a:solidFill>
                <a:latin typeface="Garet Light"/>
                <a:ea typeface="Garet Light"/>
                <a:cs typeface="Garet Light"/>
                <a:sym typeface="Garet Light"/>
              </a:rPr>
              <a:t>SINA Supplies an</a:t>
            </a:r>
            <a:r>
              <a:rPr lang="en-US" sz="2100" spc="23">
                <a:solidFill>
                  <a:srgbClr val="000000"/>
                </a:solidFill>
                <a:latin typeface="Garet Light"/>
                <a:ea typeface="Garet Light"/>
                <a:cs typeface="Garet Light"/>
                <a:sym typeface="Garet Light"/>
              </a:rPr>
              <a:t>d Logistics PLC is a dynamic Ethiopian company specializing in procurement, logistics coordination, event management, property management, staffing solutions, and integrated business support services. The company was established with the objective of delivering reliable, efficient, and cost-effective operational support to corporate organizations, institutions, and private clients.</a:t>
            </a:r>
          </a:p>
        </p:txBody>
      </p:sp>
      <p:sp>
        <p:nvSpPr>
          <p:cNvPr name="TextBox 26" id="26"/>
          <p:cNvSpPr txBox="true"/>
          <p:nvPr/>
        </p:nvSpPr>
        <p:spPr>
          <a:xfrm rot="0">
            <a:off x="1747648" y="6300790"/>
            <a:ext cx="8854088" cy="1762125"/>
          </a:xfrm>
          <a:prstGeom prst="rect">
            <a:avLst/>
          </a:prstGeom>
        </p:spPr>
        <p:txBody>
          <a:bodyPr anchor="t" rtlCol="false" tIns="0" lIns="0" bIns="0" rIns="0">
            <a:spAutoFit/>
          </a:bodyPr>
          <a:lstStyle/>
          <a:p>
            <a:pPr algn="just">
              <a:lnSpc>
                <a:spcPts val="3569"/>
              </a:lnSpc>
            </a:pPr>
            <a:r>
              <a:rPr lang="en-US" sz="2100" spc="23">
                <a:solidFill>
                  <a:srgbClr val="000000"/>
                </a:solidFill>
                <a:latin typeface="Garet Light"/>
                <a:ea typeface="Garet Light"/>
                <a:cs typeface="Garet Light"/>
                <a:sym typeface="Garet Light"/>
              </a:rPr>
              <a:t>With a</a:t>
            </a:r>
            <a:r>
              <a:rPr lang="en-US" sz="2100" spc="23">
                <a:solidFill>
                  <a:srgbClr val="000000"/>
                </a:solidFill>
                <a:latin typeface="Garet Light"/>
                <a:ea typeface="Garet Light"/>
                <a:cs typeface="Garet Light"/>
                <a:sym typeface="Garet Light"/>
              </a:rPr>
              <a:t> strong network of suppliers, service providers, and logistics partners, SINA ensures timely delivery, quality assurance, and professional service execution across all areas of operation.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518158">
            <a:off x="15534740" y="-567604"/>
            <a:ext cx="6159434" cy="14973834"/>
            <a:chOff x="0" y="0"/>
            <a:chExt cx="1622238" cy="3943726"/>
          </a:xfrm>
        </p:grpSpPr>
        <p:sp>
          <p:nvSpPr>
            <p:cNvPr name="Freeform 3" id="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1A50E"/>
            </a:solidFill>
          </p:spPr>
        </p:sp>
        <p:sp>
          <p:nvSpPr>
            <p:cNvPr name="TextBox 4" id="4"/>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10634164" y="-2415657"/>
            <a:ext cx="11130416" cy="10628974"/>
            <a:chOff x="0" y="0"/>
            <a:chExt cx="14840555" cy="14171966"/>
          </a:xfrm>
        </p:grpSpPr>
        <p:sp>
          <p:nvSpPr>
            <p:cNvPr name="Freeform 6" id="6"/>
            <p:cNvSpPr/>
            <p:nvPr/>
          </p:nvSpPr>
          <p:spPr>
            <a:xfrm flipH="false" flipV="false" rot="-8100000">
              <a:off x="-275228" y="8847652"/>
              <a:ext cx="7039768" cy="1371187"/>
            </a:xfrm>
            <a:custGeom>
              <a:avLst/>
              <a:gdLst/>
              <a:ahLst/>
              <a:cxnLst/>
              <a:rect r="r" b="b" t="t" l="l"/>
              <a:pathLst>
                <a:path h="1371187" w="7039768">
                  <a:moveTo>
                    <a:pt x="0" y="0"/>
                  </a:moveTo>
                  <a:lnTo>
                    <a:pt x="7039768" y="0"/>
                  </a:lnTo>
                  <a:lnTo>
                    <a:pt x="7039768" y="1371187"/>
                  </a:lnTo>
                  <a:lnTo>
                    <a:pt x="0" y="1371187"/>
                  </a:lnTo>
                  <a:lnTo>
                    <a:pt x="0" y="0"/>
                  </a:lnTo>
                  <a:close/>
                </a:path>
              </a:pathLst>
            </a:custGeom>
            <a:blipFill>
              <a:blip r:embed="rId2">
                <a:alphaModFix amt="27000"/>
              </a:blip>
              <a:stretch>
                <a:fillRect l="-21357" t="-4375" r="0" b="-4375"/>
              </a:stretch>
            </a:blipFill>
          </p:spPr>
        </p:sp>
        <p:sp>
          <p:nvSpPr>
            <p:cNvPr name="Freeform 7" id="7"/>
            <p:cNvSpPr/>
            <p:nvPr/>
          </p:nvSpPr>
          <p:spPr>
            <a:xfrm flipH="false" flipV="false" rot="-2700000">
              <a:off x="-776244" y="3659472"/>
              <a:ext cx="8610864" cy="1371187"/>
            </a:xfrm>
            <a:custGeom>
              <a:avLst/>
              <a:gdLst/>
              <a:ahLst/>
              <a:cxnLst/>
              <a:rect r="r" b="b" t="t" l="l"/>
              <a:pathLst>
                <a:path h="1371187" w="8610864">
                  <a:moveTo>
                    <a:pt x="0" y="0"/>
                  </a:moveTo>
                  <a:lnTo>
                    <a:pt x="8610864" y="0"/>
                  </a:lnTo>
                  <a:lnTo>
                    <a:pt x="8610864" y="1371188"/>
                  </a:lnTo>
                  <a:lnTo>
                    <a:pt x="0" y="1371188"/>
                  </a:lnTo>
                  <a:lnTo>
                    <a:pt x="0" y="0"/>
                  </a:lnTo>
                  <a:close/>
                </a:path>
              </a:pathLst>
            </a:custGeom>
            <a:blipFill>
              <a:blip r:embed="rId2">
                <a:alphaModFix amt="27000"/>
              </a:blip>
              <a:stretch>
                <a:fillRect l="0" t="-7391" r="-4716" b="-7391"/>
              </a:stretch>
            </a:blipFill>
          </p:spPr>
        </p:sp>
        <p:grpSp>
          <p:nvGrpSpPr>
            <p:cNvPr name="Group 8" id="8"/>
            <p:cNvGrpSpPr/>
            <p:nvPr/>
          </p:nvGrpSpPr>
          <p:grpSpPr>
            <a:xfrm rot="0">
              <a:off x="668589" y="0"/>
              <a:ext cx="14171966" cy="14171966"/>
              <a:chOff x="0" y="0"/>
              <a:chExt cx="812800" cy="812800"/>
            </a:xfrm>
          </p:grpSpPr>
          <p:sp>
            <p:nvSpPr>
              <p:cNvPr name="Freeform 9" id="9"/>
              <p:cNvSpPr/>
              <p:nvPr/>
            </p:nvSpPr>
            <p:spPr>
              <a:xfrm flipH="false" flipV="false" rot="0">
                <a:off x="16895" y="16895"/>
                <a:ext cx="779009" cy="779009"/>
              </a:xfrm>
              <a:custGeom>
                <a:avLst/>
                <a:gdLst/>
                <a:ahLst/>
                <a:cxnLst/>
                <a:rect r="r" b="b" t="t" l="l"/>
                <a:pathLst>
                  <a:path h="779009" w="779009">
                    <a:moveTo>
                      <a:pt x="418347" y="11947"/>
                    </a:moveTo>
                    <a:lnTo>
                      <a:pt x="767063" y="360663"/>
                    </a:lnTo>
                    <a:cubicBezTo>
                      <a:pt x="774712" y="368312"/>
                      <a:pt x="779010" y="378687"/>
                      <a:pt x="779010" y="389505"/>
                    </a:cubicBezTo>
                    <a:cubicBezTo>
                      <a:pt x="779010" y="400323"/>
                      <a:pt x="774712" y="410698"/>
                      <a:pt x="767063" y="418347"/>
                    </a:cubicBezTo>
                    <a:lnTo>
                      <a:pt x="418347" y="767063"/>
                    </a:lnTo>
                    <a:cubicBezTo>
                      <a:pt x="410698" y="774712"/>
                      <a:pt x="400323" y="779010"/>
                      <a:pt x="389505" y="779010"/>
                    </a:cubicBezTo>
                    <a:cubicBezTo>
                      <a:pt x="378687" y="779010"/>
                      <a:pt x="368312" y="774712"/>
                      <a:pt x="360663" y="767063"/>
                    </a:cubicBezTo>
                    <a:lnTo>
                      <a:pt x="11947" y="418347"/>
                    </a:lnTo>
                    <a:cubicBezTo>
                      <a:pt x="4298" y="410698"/>
                      <a:pt x="0" y="400323"/>
                      <a:pt x="0" y="389505"/>
                    </a:cubicBezTo>
                    <a:cubicBezTo>
                      <a:pt x="0" y="378687"/>
                      <a:pt x="4298" y="368312"/>
                      <a:pt x="11947" y="360663"/>
                    </a:cubicBezTo>
                    <a:lnTo>
                      <a:pt x="360663" y="11947"/>
                    </a:lnTo>
                    <a:cubicBezTo>
                      <a:pt x="368312" y="4298"/>
                      <a:pt x="378687" y="0"/>
                      <a:pt x="389505" y="0"/>
                    </a:cubicBezTo>
                    <a:cubicBezTo>
                      <a:pt x="400323" y="0"/>
                      <a:pt x="410698" y="4298"/>
                      <a:pt x="418347" y="11947"/>
                    </a:cubicBezTo>
                    <a:close/>
                  </a:path>
                </a:pathLst>
              </a:custGeom>
              <a:solidFill>
                <a:srgbClr val="FFFFFF"/>
              </a:solidFill>
            </p:spPr>
          </p:sp>
          <p:sp>
            <p:nvSpPr>
              <p:cNvPr name="TextBox 10" id="10"/>
              <p:cNvSpPr txBox="true"/>
              <p:nvPr/>
            </p:nvSpPr>
            <p:spPr>
              <a:xfrm>
                <a:off x="139700" y="101600"/>
                <a:ext cx="533400" cy="571500"/>
              </a:xfrm>
              <a:prstGeom prst="rect">
                <a:avLst/>
              </a:prstGeom>
            </p:spPr>
            <p:txBody>
              <a:bodyPr anchor="ctr" rtlCol="false" tIns="43519" lIns="43519" bIns="43519" rIns="43519"/>
              <a:lstStyle/>
              <a:p>
                <a:pPr algn="ctr">
                  <a:lnSpc>
                    <a:spcPts val="3359"/>
                  </a:lnSpc>
                </a:pPr>
              </a:p>
            </p:txBody>
          </p:sp>
        </p:grpSp>
      </p:grpSp>
      <p:grpSp>
        <p:nvGrpSpPr>
          <p:cNvPr name="Group 11" id="11"/>
          <p:cNvGrpSpPr/>
          <p:nvPr/>
        </p:nvGrpSpPr>
        <p:grpSpPr>
          <a:xfrm rot="0">
            <a:off x="11413034" y="-1887509"/>
            <a:ext cx="9572678" cy="9572678"/>
            <a:chOff x="0" y="0"/>
            <a:chExt cx="812800" cy="812800"/>
          </a:xfrm>
        </p:grpSpPr>
        <p:sp>
          <p:nvSpPr>
            <p:cNvPr name="Freeform 12" id="12"/>
            <p:cNvSpPr/>
            <p:nvPr/>
          </p:nvSpPr>
          <p:spPr>
            <a:xfrm flipH="false" flipV="false" rot="0">
              <a:off x="18760" y="18760"/>
              <a:ext cx="775280" cy="775280"/>
            </a:xfrm>
            <a:custGeom>
              <a:avLst/>
              <a:gdLst/>
              <a:ahLst/>
              <a:cxnLst/>
              <a:rect r="r" b="b" t="t" l="l"/>
              <a:pathLst>
                <a:path h="775280" w="775280">
                  <a:moveTo>
                    <a:pt x="419665" y="13265"/>
                  </a:moveTo>
                  <a:lnTo>
                    <a:pt x="762015" y="355615"/>
                  </a:lnTo>
                  <a:cubicBezTo>
                    <a:pt x="779702" y="373302"/>
                    <a:pt x="779702" y="401978"/>
                    <a:pt x="762015" y="419665"/>
                  </a:cubicBezTo>
                  <a:lnTo>
                    <a:pt x="419665" y="762015"/>
                  </a:lnTo>
                  <a:cubicBezTo>
                    <a:pt x="401978" y="779702"/>
                    <a:pt x="373302" y="779702"/>
                    <a:pt x="355615" y="762015"/>
                  </a:cubicBezTo>
                  <a:lnTo>
                    <a:pt x="13265" y="419665"/>
                  </a:lnTo>
                  <a:cubicBezTo>
                    <a:pt x="-4422" y="401978"/>
                    <a:pt x="-4422" y="373302"/>
                    <a:pt x="13265" y="355615"/>
                  </a:cubicBezTo>
                  <a:lnTo>
                    <a:pt x="355615" y="13265"/>
                  </a:lnTo>
                  <a:cubicBezTo>
                    <a:pt x="373302" y="-4422"/>
                    <a:pt x="401978" y="-4422"/>
                    <a:pt x="419665" y="13265"/>
                  </a:cubicBezTo>
                  <a:close/>
                </a:path>
              </a:pathLst>
            </a:custGeom>
            <a:blipFill>
              <a:blip r:embed="rId3"/>
              <a:stretch>
                <a:fillRect l="0" t="0" r="0" b="0"/>
              </a:stretch>
            </a:blipFill>
          </p:spPr>
        </p:sp>
      </p:grpSp>
      <p:grpSp>
        <p:nvGrpSpPr>
          <p:cNvPr name="Group 13" id="13"/>
          <p:cNvGrpSpPr/>
          <p:nvPr/>
        </p:nvGrpSpPr>
        <p:grpSpPr>
          <a:xfrm rot="2518158">
            <a:off x="15985114" y="3487303"/>
            <a:ext cx="3733240" cy="10172185"/>
            <a:chOff x="0" y="0"/>
            <a:chExt cx="1447366" cy="3943726"/>
          </a:xfrm>
        </p:grpSpPr>
        <p:sp>
          <p:nvSpPr>
            <p:cNvPr name="Freeform 14" id="14"/>
            <p:cNvSpPr/>
            <p:nvPr/>
          </p:nvSpPr>
          <p:spPr>
            <a:xfrm flipH="false" flipV="false" rot="0">
              <a:off x="0" y="0"/>
              <a:ext cx="1447366" cy="3943726"/>
            </a:xfrm>
            <a:custGeom>
              <a:avLst/>
              <a:gdLst/>
              <a:ahLst/>
              <a:cxnLst/>
              <a:rect r="r" b="b" t="t" l="l"/>
              <a:pathLst>
                <a:path h="3943726" w="1447366">
                  <a:moveTo>
                    <a:pt x="203200" y="0"/>
                  </a:moveTo>
                  <a:lnTo>
                    <a:pt x="1447366" y="0"/>
                  </a:lnTo>
                  <a:lnTo>
                    <a:pt x="1244166" y="3943726"/>
                  </a:lnTo>
                  <a:lnTo>
                    <a:pt x="0" y="3943726"/>
                  </a:lnTo>
                  <a:lnTo>
                    <a:pt x="203200" y="0"/>
                  </a:lnTo>
                  <a:close/>
                </a:path>
              </a:pathLst>
            </a:custGeom>
            <a:solidFill>
              <a:srgbClr val="FFDE59"/>
            </a:solidFill>
          </p:spPr>
        </p:sp>
        <p:sp>
          <p:nvSpPr>
            <p:cNvPr name="TextBox 15" id="15"/>
            <p:cNvSpPr txBox="true"/>
            <p:nvPr/>
          </p:nvSpPr>
          <p:spPr>
            <a:xfrm>
              <a:off x="101600" y="-38100"/>
              <a:ext cx="1244166" cy="3981826"/>
            </a:xfrm>
            <a:prstGeom prst="rect">
              <a:avLst/>
            </a:prstGeom>
          </p:spPr>
          <p:txBody>
            <a:bodyPr anchor="ctr" rtlCol="false" tIns="50800" lIns="50800" bIns="50800" rIns="50800"/>
            <a:lstStyle/>
            <a:p>
              <a:pPr algn="ctr">
                <a:lnSpc>
                  <a:spcPts val="3359"/>
                </a:lnSpc>
              </a:pPr>
            </a:p>
          </p:txBody>
        </p:sp>
      </p:grpSp>
      <p:sp>
        <p:nvSpPr>
          <p:cNvPr name="Freeform 16" id="16"/>
          <p:cNvSpPr/>
          <p:nvPr/>
        </p:nvSpPr>
        <p:spPr>
          <a:xfrm flipH="false" flipV="false" rot="-2700000">
            <a:off x="14777289" y="7787223"/>
            <a:ext cx="7350486" cy="1200452"/>
          </a:xfrm>
          <a:custGeom>
            <a:avLst/>
            <a:gdLst/>
            <a:ahLst/>
            <a:cxnLst/>
            <a:rect r="r" b="b" t="t" l="l"/>
            <a:pathLst>
              <a:path h="1200452" w="7350486">
                <a:moveTo>
                  <a:pt x="0" y="0"/>
                </a:moveTo>
                <a:lnTo>
                  <a:pt x="7350486" y="0"/>
                </a:lnTo>
                <a:lnTo>
                  <a:pt x="7350486" y="1200452"/>
                </a:lnTo>
                <a:lnTo>
                  <a:pt x="0" y="1200452"/>
                </a:lnTo>
                <a:lnTo>
                  <a:pt x="0" y="0"/>
                </a:lnTo>
                <a:close/>
              </a:path>
            </a:pathLst>
          </a:custGeom>
          <a:blipFill>
            <a:blip r:embed="rId2">
              <a:alphaModFix amt="27000"/>
            </a:blip>
            <a:stretch>
              <a:fillRect l="0" t="-4950" r="-2830" b="-4950"/>
            </a:stretch>
          </a:blipFill>
        </p:spPr>
      </p:sp>
      <p:grpSp>
        <p:nvGrpSpPr>
          <p:cNvPr name="Group 17" id="17"/>
          <p:cNvGrpSpPr/>
          <p:nvPr/>
        </p:nvGrpSpPr>
        <p:grpSpPr>
          <a:xfrm rot="2518158">
            <a:off x="18720985" y="4435548"/>
            <a:ext cx="3280102" cy="7974061"/>
            <a:chOff x="0" y="0"/>
            <a:chExt cx="1622238" cy="3943726"/>
          </a:xfrm>
        </p:grpSpPr>
        <p:sp>
          <p:nvSpPr>
            <p:cNvPr name="Freeform 18" id="1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19" id="19"/>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20" id="20"/>
          <p:cNvGrpSpPr/>
          <p:nvPr/>
        </p:nvGrpSpPr>
        <p:grpSpPr>
          <a:xfrm rot="0">
            <a:off x="1177437" y="348047"/>
            <a:ext cx="2564062" cy="1957322"/>
            <a:chOff x="0" y="0"/>
            <a:chExt cx="3418750" cy="2609762"/>
          </a:xfrm>
        </p:grpSpPr>
        <p:sp>
          <p:nvSpPr>
            <p:cNvPr name="Freeform 21" id="21"/>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2" id="22"/>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23" id="23"/>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24" id="24"/>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sp>
        <p:nvSpPr>
          <p:cNvPr name="TextBox 25" id="25"/>
          <p:cNvSpPr txBox="true"/>
          <p:nvPr/>
        </p:nvSpPr>
        <p:spPr>
          <a:xfrm rot="0">
            <a:off x="1538576" y="3117832"/>
            <a:ext cx="3410031" cy="775335"/>
          </a:xfrm>
          <a:prstGeom prst="rect">
            <a:avLst/>
          </a:prstGeom>
        </p:spPr>
        <p:txBody>
          <a:bodyPr anchor="t" rtlCol="false" tIns="0" lIns="0" bIns="0" rIns="0">
            <a:spAutoFit/>
          </a:bodyPr>
          <a:lstStyle/>
          <a:p>
            <a:pPr algn="l">
              <a:lnSpc>
                <a:spcPts val="5820"/>
              </a:lnSpc>
            </a:pPr>
            <a:r>
              <a:rPr lang="en-US" b="true" sz="6000" spc="282">
                <a:solidFill>
                  <a:srgbClr val="F1A50E"/>
                </a:solidFill>
                <a:latin typeface="Garet Bold"/>
                <a:ea typeface="Garet Bold"/>
                <a:cs typeface="Garet Bold"/>
                <a:sym typeface="Garet Bold"/>
              </a:rPr>
              <a:t>VISI</a:t>
            </a:r>
            <a:r>
              <a:rPr lang="en-US" b="true" sz="6000" spc="282">
                <a:solidFill>
                  <a:srgbClr val="F1A50E"/>
                </a:solidFill>
                <a:latin typeface="Garet Bold"/>
                <a:ea typeface="Garet Bold"/>
                <a:cs typeface="Garet Bold"/>
                <a:sym typeface="Garet Bold"/>
              </a:rPr>
              <a:t>ON</a:t>
            </a:r>
          </a:p>
        </p:txBody>
      </p:sp>
      <p:sp>
        <p:nvSpPr>
          <p:cNvPr name="TextBox 26" id="26"/>
          <p:cNvSpPr txBox="true"/>
          <p:nvPr/>
        </p:nvSpPr>
        <p:spPr>
          <a:xfrm rot="0">
            <a:off x="1538576" y="4065317"/>
            <a:ext cx="9874458" cy="14541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To become one</a:t>
            </a:r>
            <a:r>
              <a:rPr lang="en-US" sz="2299" spc="25">
                <a:solidFill>
                  <a:srgbClr val="000000"/>
                </a:solidFill>
                <a:latin typeface="Garet Light"/>
                <a:ea typeface="Garet Light"/>
                <a:cs typeface="Garet Light"/>
                <a:sym typeface="Garet Light"/>
              </a:rPr>
              <a:t> of Ethiopia’s leading integrated procurement, logistics, and business support service providers, recognized for reliability, professionalism, and customer satisfaction.</a:t>
            </a:r>
          </a:p>
        </p:txBody>
      </p:sp>
      <p:sp>
        <p:nvSpPr>
          <p:cNvPr name="TextBox 27" id="27"/>
          <p:cNvSpPr txBox="true"/>
          <p:nvPr/>
        </p:nvSpPr>
        <p:spPr>
          <a:xfrm rot="0">
            <a:off x="1538576" y="7213192"/>
            <a:ext cx="11428897" cy="2444750"/>
          </a:xfrm>
          <a:prstGeom prst="rect">
            <a:avLst/>
          </a:prstGeom>
        </p:spPr>
        <p:txBody>
          <a:bodyPr anchor="t" rtlCol="false" tIns="0" lIns="0" bIns="0" rIns="0">
            <a:spAutoFit/>
          </a:bodyPr>
          <a:lstStyle/>
          <a:p>
            <a:pPr algn="l" marL="496569" indent="-248284" lvl="1">
              <a:lnSpc>
                <a:spcPts val="3909"/>
              </a:lnSpc>
              <a:buFont typeface="Arial"/>
              <a:buChar char="•"/>
            </a:pPr>
            <a:r>
              <a:rPr lang="en-US" sz="2299" spc="25">
                <a:solidFill>
                  <a:srgbClr val="000000"/>
                </a:solidFill>
                <a:latin typeface="Garet Light"/>
                <a:ea typeface="Garet Light"/>
                <a:cs typeface="Garet Light"/>
                <a:sym typeface="Garet Light"/>
              </a:rPr>
              <a:t>P</a:t>
            </a:r>
            <a:r>
              <a:rPr lang="en-US" sz="2299" spc="25">
                <a:solidFill>
                  <a:srgbClr val="000000"/>
                </a:solidFill>
                <a:latin typeface="Garet Light"/>
                <a:ea typeface="Garet Light"/>
                <a:cs typeface="Garet Light"/>
                <a:sym typeface="Garet Light"/>
              </a:rPr>
              <a:t>rovide high-quality procurement and logistics solutions.</a:t>
            </a:r>
          </a:p>
          <a:p>
            <a:pPr algn="l" marL="496569" indent="-248284" lvl="1">
              <a:lnSpc>
                <a:spcPts val="3909"/>
              </a:lnSpc>
              <a:buFont typeface="Arial"/>
              <a:buChar char="•"/>
            </a:pPr>
            <a:r>
              <a:rPr lang="en-US" sz="2299" spc="25">
                <a:solidFill>
                  <a:srgbClr val="000000"/>
                </a:solidFill>
                <a:latin typeface="Garet Light"/>
                <a:ea typeface="Garet Light"/>
                <a:cs typeface="Garet Light"/>
                <a:sym typeface="Garet Light"/>
              </a:rPr>
              <a:t>Deliver professional event and property management services.</a:t>
            </a:r>
          </a:p>
          <a:p>
            <a:pPr algn="l" marL="496569" indent="-248284" lvl="1">
              <a:lnSpc>
                <a:spcPts val="3909"/>
              </a:lnSpc>
              <a:buFont typeface="Arial"/>
              <a:buChar char="•"/>
            </a:pPr>
            <a:r>
              <a:rPr lang="en-US" sz="2299" spc="25">
                <a:solidFill>
                  <a:srgbClr val="000000"/>
                </a:solidFill>
                <a:latin typeface="Garet Light"/>
                <a:ea typeface="Garet Light"/>
                <a:cs typeface="Garet Light"/>
                <a:sym typeface="Garet Light"/>
              </a:rPr>
              <a:t>Support organizations with efficient staffing and operational services.</a:t>
            </a:r>
          </a:p>
          <a:p>
            <a:pPr algn="l" marL="496569" indent="-248284" lvl="1">
              <a:lnSpc>
                <a:spcPts val="3909"/>
              </a:lnSpc>
              <a:buFont typeface="Arial"/>
              <a:buChar char="•"/>
            </a:pPr>
            <a:r>
              <a:rPr lang="en-US" sz="2299" spc="25">
                <a:solidFill>
                  <a:srgbClr val="000000"/>
                </a:solidFill>
                <a:latin typeface="Garet Light"/>
                <a:ea typeface="Garet Light"/>
                <a:cs typeface="Garet Light"/>
                <a:sym typeface="Garet Light"/>
              </a:rPr>
              <a:t>Create long-term value for clients through dependable service delivery.</a:t>
            </a:r>
          </a:p>
        </p:txBody>
      </p:sp>
      <p:sp>
        <p:nvSpPr>
          <p:cNvPr name="TextBox 28" id="28"/>
          <p:cNvSpPr txBox="true"/>
          <p:nvPr/>
        </p:nvSpPr>
        <p:spPr>
          <a:xfrm rot="0">
            <a:off x="1538576" y="6266407"/>
            <a:ext cx="4427044" cy="775335"/>
          </a:xfrm>
          <a:prstGeom prst="rect">
            <a:avLst/>
          </a:prstGeom>
        </p:spPr>
        <p:txBody>
          <a:bodyPr anchor="t" rtlCol="false" tIns="0" lIns="0" bIns="0" rIns="0">
            <a:spAutoFit/>
          </a:bodyPr>
          <a:lstStyle/>
          <a:p>
            <a:pPr algn="l">
              <a:lnSpc>
                <a:spcPts val="5820"/>
              </a:lnSpc>
            </a:pPr>
            <a:r>
              <a:rPr lang="en-US" b="true" sz="6000" spc="282">
                <a:solidFill>
                  <a:srgbClr val="F1A50E"/>
                </a:solidFill>
                <a:latin typeface="Garet Bold"/>
                <a:ea typeface="Garet Bold"/>
                <a:cs typeface="Garet Bold"/>
                <a:sym typeface="Garet Bold"/>
              </a:rPr>
              <a:t>MISSI</a:t>
            </a:r>
            <a:r>
              <a:rPr lang="en-US" b="true" sz="6000" spc="282">
                <a:solidFill>
                  <a:srgbClr val="F1A50E"/>
                </a:solidFill>
                <a:latin typeface="Garet Bold"/>
                <a:ea typeface="Garet Bold"/>
                <a:cs typeface="Garet Bold"/>
                <a:sym typeface="Garet Bold"/>
              </a:rPr>
              <a:t>ON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5492" y="665064"/>
            <a:ext cx="19293211" cy="2213864"/>
            <a:chOff x="0" y="0"/>
            <a:chExt cx="5081339" cy="583075"/>
          </a:xfrm>
        </p:grpSpPr>
        <p:sp>
          <p:nvSpPr>
            <p:cNvPr name="Freeform 3" id="3"/>
            <p:cNvSpPr/>
            <p:nvPr/>
          </p:nvSpPr>
          <p:spPr>
            <a:xfrm flipH="false" flipV="false" rot="0">
              <a:off x="0" y="0"/>
              <a:ext cx="5081339" cy="583075"/>
            </a:xfrm>
            <a:custGeom>
              <a:avLst/>
              <a:gdLst/>
              <a:ahLst/>
              <a:cxnLst/>
              <a:rect r="r" b="b" t="t" l="l"/>
              <a:pathLst>
                <a:path h="583075" w="5081339">
                  <a:moveTo>
                    <a:pt x="0" y="0"/>
                  </a:moveTo>
                  <a:lnTo>
                    <a:pt x="5081339" y="0"/>
                  </a:lnTo>
                  <a:lnTo>
                    <a:pt x="5081339" y="583075"/>
                  </a:lnTo>
                  <a:lnTo>
                    <a:pt x="0" y="583075"/>
                  </a:lnTo>
                  <a:close/>
                </a:path>
              </a:pathLst>
            </a:custGeom>
            <a:solidFill>
              <a:srgbClr val="F1A50E"/>
            </a:solidFill>
          </p:spPr>
        </p:sp>
        <p:sp>
          <p:nvSpPr>
            <p:cNvPr name="TextBox 4" id="4"/>
            <p:cNvSpPr txBox="true"/>
            <p:nvPr/>
          </p:nvSpPr>
          <p:spPr>
            <a:xfrm>
              <a:off x="0" y="-38100"/>
              <a:ext cx="5081339" cy="62117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844003" y="4448577"/>
            <a:ext cx="7736823" cy="3890879"/>
            <a:chOff x="0" y="0"/>
            <a:chExt cx="2037682" cy="1024758"/>
          </a:xfrm>
        </p:grpSpPr>
        <p:sp>
          <p:nvSpPr>
            <p:cNvPr name="Freeform 6" id="6"/>
            <p:cNvSpPr/>
            <p:nvPr/>
          </p:nvSpPr>
          <p:spPr>
            <a:xfrm flipH="false" flipV="false" rot="0">
              <a:off x="0" y="0"/>
              <a:ext cx="2037682" cy="1024758"/>
            </a:xfrm>
            <a:custGeom>
              <a:avLst/>
              <a:gdLst/>
              <a:ahLst/>
              <a:cxnLst/>
              <a:rect r="r" b="b" t="t" l="l"/>
              <a:pathLst>
                <a:path h="1024758" w="2037682">
                  <a:moveTo>
                    <a:pt x="51034" y="0"/>
                  </a:moveTo>
                  <a:lnTo>
                    <a:pt x="1986648" y="0"/>
                  </a:lnTo>
                  <a:cubicBezTo>
                    <a:pt x="2000183" y="0"/>
                    <a:pt x="2013164" y="5377"/>
                    <a:pt x="2022734" y="14947"/>
                  </a:cubicBezTo>
                  <a:cubicBezTo>
                    <a:pt x="2032305" y="24518"/>
                    <a:pt x="2037682" y="37499"/>
                    <a:pt x="2037682" y="51034"/>
                  </a:cubicBezTo>
                  <a:lnTo>
                    <a:pt x="2037682" y="973725"/>
                  </a:lnTo>
                  <a:cubicBezTo>
                    <a:pt x="2037682" y="987260"/>
                    <a:pt x="2032305" y="1000240"/>
                    <a:pt x="2022734" y="1009811"/>
                  </a:cubicBezTo>
                  <a:cubicBezTo>
                    <a:pt x="2013164" y="1019381"/>
                    <a:pt x="2000183" y="1024758"/>
                    <a:pt x="1986648" y="1024758"/>
                  </a:cubicBezTo>
                  <a:lnTo>
                    <a:pt x="51034" y="1024758"/>
                  </a:lnTo>
                  <a:cubicBezTo>
                    <a:pt x="37499" y="1024758"/>
                    <a:pt x="24518" y="1019381"/>
                    <a:pt x="14947" y="1009811"/>
                  </a:cubicBezTo>
                  <a:cubicBezTo>
                    <a:pt x="5377" y="1000240"/>
                    <a:pt x="0" y="987260"/>
                    <a:pt x="0" y="973725"/>
                  </a:cubicBezTo>
                  <a:lnTo>
                    <a:pt x="0" y="51034"/>
                  </a:lnTo>
                  <a:cubicBezTo>
                    <a:pt x="0" y="37499"/>
                    <a:pt x="5377" y="24518"/>
                    <a:pt x="14947" y="14947"/>
                  </a:cubicBezTo>
                  <a:cubicBezTo>
                    <a:pt x="24518" y="5377"/>
                    <a:pt x="37499" y="0"/>
                    <a:pt x="51034" y="0"/>
                  </a:cubicBezTo>
                  <a:close/>
                </a:path>
              </a:pathLst>
            </a:custGeom>
            <a:solidFill>
              <a:srgbClr val="FFF7D5"/>
            </a:solidFill>
            <a:ln w="66675" cap="rnd">
              <a:solidFill>
                <a:srgbClr val="F1A50E"/>
              </a:solidFill>
              <a:prstDash val="solid"/>
              <a:round/>
            </a:ln>
          </p:spPr>
        </p:sp>
        <p:sp>
          <p:nvSpPr>
            <p:cNvPr name="TextBox 7" id="7"/>
            <p:cNvSpPr txBox="true"/>
            <p:nvPr/>
          </p:nvSpPr>
          <p:spPr>
            <a:xfrm>
              <a:off x="0" y="-38100"/>
              <a:ext cx="2037682" cy="1062858"/>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7171275" y="999419"/>
            <a:ext cx="11124543" cy="1674495"/>
          </a:xfrm>
          <a:prstGeom prst="rect">
            <a:avLst/>
          </a:prstGeom>
        </p:spPr>
        <p:txBody>
          <a:bodyPr anchor="t" rtlCol="false" tIns="0" lIns="0" bIns="0" rIns="0">
            <a:spAutoFit/>
          </a:bodyPr>
          <a:lstStyle/>
          <a:p>
            <a:pPr algn="l">
              <a:lnSpc>
                <a:spcPts val="6540"/>
              </a:lnSpc>
            </a:pPr>
            <a:r>
              <a:rPr lang="en-US" sz="6000" b="true">
                <a:solidFill>
                  <a:srgbClr val="F7FBFF"/>
                </a:solidFill>
                <a:latin typeface="Garet Bold"/>
                <a:ea typeface="Garet Bold"/>
                <a:cs typeface="Garet Bold"/>
                <a:sym typeface="Garet Bold"/>
              </a:rPr>
              <a:t>OUR COMPANY PREMIUM SERVICE</a:t>
            </a:r>
          </a:p>
        </p:txBody>
      </p:sp>
      <p:grpSp>
        <p:nvGrpSpPr>
          <p:cNvPr name="Group 9" id="9"/>
          <p:cNvGrpSpPr/>
          <p:nvPr/>
        </p:nvGrpSpPr>
        <p:grpSpPr>
          <a:xfrm rot="0">
            <a:off x="1177437" y="348047"/>
            <a:ext cx="2564062" cy="1957322"/>
            <a:chOff x="0" y="0"/>
            <a:chExt cx="3418750" cy="2609762"/>
          </a:xfrm>
        </p:grpSpPr>
        <p:sp>
          <p:nvSpPr>
            <p:cNvPr name="Freeform 10" id="10"/>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12" id="12"/>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13" id="13"/>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sp>
        <p:nvSpPr>
          <p:cNvPr name="TextBox 14" id="14"/>
          <p:cNvSpPr txBox="true"/>
          <p:nvPr/>
        </p:nvSpPr>
        <p:spPr>
          <a:xfrm rot="0">
            <a:off x="1237922" y="4866842"/>
            <a:ext cx="7056449" cy="29400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Office consumables and</a:t>
            </a:r>
            <a:r>
              <a:rPr lang="en-US" sz="2299" spc="25">
                <a:solidFill>
                  <a:srgbClr val="000000"/>
                </a:solidFill>
                <a:latin typeface="Garet Light"/>
                <a:ea typeface="Garet Light"/>
                <a:cs typeface="Garet Light"/>
                <a:sym typeface="Garet Light"/>
              </a:rPr>
              <a:t> supplies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Hospitality and refreshment supplies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Meeting and conference materials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Holiday and celebration items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Supplier sourcing and management</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Inventory monitoring and replenishment</a:t>
            </a:r>
          </a:p>
        </p:txBody>
      </p:sp>
      <p:sp>
        <p:nvSpPr>
          <p:cNvPr name="TextBox 15" id="15"/>
          <p:cNvSpPr txBox="true"/>
          <p:nvPr/>
        </p:nvSpPr>
        <p:spPr>
          <a:xfrm rot="0">
            <a:off x="1381149" y="3772302"/>
            <a:ext cx="6662530" cy="498476"/>
          </a:xfrm>
          <a:prstGeom prst="rect">
            <a:avLst/>
          </a:prstGeom>
        </p:spPr>
        <p:txBody>
          <a:bodyPr anchor="t" rtlCol="false" tIns="0" lIns="0" bIns="0" rIns="0">
            <a:spAutoFit/>
          </a:bodyPr>
          <a:lstStyle/>
          <a:p>
            <a:pPr algn="ctr">
              <a:lnSpc>
                <a:spcPts val="4249"/>
              </a:lnSpc>
            </a:pPr>
            <a:r>
              <a:rPr lang="en-US" b="true" sz="2499" spc="27">
                <a:solidFill>
                  <a:srgbClr val="000000"/>
                </a:solidFill>
                <a:latin typeface="Garet Bold"/>
                <a:ea typeface="Garet Bold"/>
                <a:cs typeface="Garet Bold"/>
                <a:sym typeface="Garet Bold"/>
              </a:rPr>
              <a:t>P</a:t>
            </a:r>
            <a:r>
              <a:rPr lang="en-US" b="true" sz="2499" spc="27">
                <a:solidFill>
                  <a:srgbClr val="000000"/>
                </a:solidFill>
                <a:latin typeface="Garet Bold"/>
                <a:ea typeface="Garet Bold"/>
                <a:cs typeface="Garet Bold"/>
                <a:sym typeface="Garet Bold"/>
              </a:rPr>
              <a:t>rocurement &amp; Supply Services</a:t>
            </a:r>
          </a:p>
        </p:txBody>
      </p:sp>
      <p:grpSp>
        <p:nvGrpSpPr>
          <p:cNvPr name="Group 16" id="16"/>
          <p:cNvGrpSpPr/>
          <p:nvPr/>
        </p:nvGrpSpPr>
        <p:grpSpPr>
          <a:xfrm rot="0">
            <a:off x="9642550" y="4448577"/>
            <a:ext cx="7766845" cy="3890879"/>
            <a:chOff x="0" y="0"/>
            <a:chExt cx="2045589" cy="1024758"/>
          </a:xfrm>
        </p:grpSpPr>
        <p:sp>
          <p:nvSpPr>
            <p:cNvPr name="Freeform 17" id="17"/>
            <p:cNvSpPr/>
            <p:nvPr/>
          </p:nvSpPr>
          <p:spPr>
            <a:xfrm flipH="false" flipV="false" rot="0">
              <a:off x="0" y="0"/>
              <a:ext cx="2045589" cy="1024758"/>
            </a:xfrm>
            <a:custGeom>
              <a:avLst/>
              <a:gdLst/>
              <a:ahLst/>
              <a:cxnLst/>
              <a:rect r="r" b="b" t="t" l="l"/>
              <a:pathLst>
                <a:path h="1024758" w="2045589">
                  <a:moveTo>
                    <a:pt x="50836" y="0"/>
                  </a:moveTo>
                  <a:lnTo>
                    <a:pt x="1994752" y="0"/>
                  </a:lnTo>
                  <a:cubicBezTo>
                    <a:pt x="2008235" y="0"/>
                    <a:pt x="2021165" y="5356"/>
                    <a:pt x="2030699" y="14890"/>
                  </a:cubicBezTo>
                  <a:cubicBezTo>
                    <a:pt x="2040233" y="24423"/>
                    <a:pt x="2045589" y="37354"/>
                    <a:pt x="2045589" y="50836"/>
                  </a:cubicBezTo>
                  <a:lnTo>
                    <a:pt x="2045589" y="973922"/>
                  </a:lnTo>
                  <a:cubicBezTo>
                    <a:pt x="2045589" y="987404"/>
                    <a:pt x="2040233" y="1000335"/>
                    <a:pt x="2030699" y="1009869"/>
                  </a:cubicBezTo>
                  <a:cubicBezTo>
                    <a:pt x="2021165" y="1019402"/>
                    <a:pt x="2008235" y="1024758"/>
                    <a:pt x="1994752" y="1024758"/>
                  </a:cubicBezTo>
                  <a:lnTo>
                    <a:pt x="50836" y="1024758"/>
                  </a:lnTo>
                  <a:cubicBezTo>
                    <a:pt x="37354" y="1024758"/>
                    <a:pt x="24423" y="1019402"/>
                    <a:pt x="14890" y="1009869"/>
                  </a:cubicBezTo>
                  <a:cubicBezTo>
                    <a:pt x="5356" y="1000335"/>
                    <a:pt x="0" y="987404"/>
                    <a:pt x="0" y="973922"/>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18" id="18"/>
            <p:cNvSpPr txBox="true"/>
            <p:nvPr/>
          </p:nvSpPr>
          <p:spPr>
            <a:xfrm>
              <a:off x="0" y="-38100"/>
              <a:ext cx="2045589" cy="1062858"/>
            </a:xfrm>
            <a:prstGeom prst="rect">
              <a:avLst/>
            </a:prstGeom>
          </p:spPr>
          <p:txBody>
            <a:bodyPr anchor="ctr" rtlCol="false" tIns="50800" lIns="50800" bIns="50800" rIns="50800"/>
            <a:lstStyle/>
            <a:p>
              <a:pPr algn="ctr">
                <a:lnSpc>
                  <a:spcPts val="3359"/>
                </a:lnSpc>
              </a:pPr>
            </a:p>
          </p:txBody>
        </p:sp>
      </p:grpSp>
      <p:sp>
        <p:nvSpPr>
          <p:cNvPr name="TextBox 19" id="19"/>
          <p:cNvSpPr txBox="true"/>
          <p:nvPr/>
        </p:nvSpPr>
        <p:spPr>
          <a:xfrm rot="0">
            <a:off x="10036468" y="5114492"/>
            <a:ext cx="7056449" cy="24447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Tran</a:t>
            </a:r>
            <a:r>
              <a:rPr lang="en-US" sz="2299" spc="25">
                <a:solidFill>
                  <a:srgbClr val="000000"/>
                </a:solidFill>
                <a:latin typeface="Garet Light"/>
                <a:ea typeface="Garet Light"/>
                <a:cs typeface="Garet Light"/>
                <a:sym typeface="Garet Light"/>
              </a:rPr>
              <a:t>sportation coordination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De</a:t>
            </a:r>
            <a:r>
              <a:rPr lang="en-US" sz="2299" spc="25">
                <a:solidFill>
                  <a:srgbClr val="000000"/>
                </a:solidFill>
                <a:latin typeface="Garet Light"/>
                <a:ea typeface="Garet Light"/>
                <a:cs typeface="Garet Light"/>
                <a:sym typeface="Garet Light"/>
              </a:rPr>
              <a:t>livery facilitation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Distribution management</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V</a:t>
            </a:r>
            <a:r>
              <a:rPr lang="en-US" sz="2299" spc="25">
                <a:solidFill>
                  <a:srgbClr val="000000"/>
                </a:solidFill>
                <a:latin typeface="Garet Light"/>
                <a:ea typeface="Garet Light"/>
                <a:cs typeface="Garet Light"/>
                <a:sym typeface="Garet Light"/>
              </a:rPr>
              <a:t>endor coordination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Scheduled delivery services</a:t>
            </a:r>
          </a:p>
        </p:txBody>
      </p:sp>
      <p:sp>
        <p:nvSpPr>
          <p:cNvPr name="TextBox 20" id="20"/>
          <p:cNvSpPr txBox="true"/>
          <p:nvPr/>
        </p:nvSpPr>
        <p:spPr>
          <a:xfrm rot="0">
            <a:off x="10233428" y="3797702"/>
            <a:ext cx="6662530" cy="498476"/>
          </a:xfrm>
          <a:prstGeom prst="rect">
            <a:avLst/>
          </a:prstGeom>
        </p:spPr>
        <p:txBody>
          <a:bodyPr anchor="t" rtlCol="false" tIns="0" lIns="0" bIns="0" rIns="0">
            <a:spAutoFit/>
          </a:bodyPr>
          <a:lstStyle/>
          <a:p>
            <a:pPr algn="ctr">
              <a:lnSpc>
                <a:spcPts val="4249"/>
              </a:lnSpc>
            </a:pPr>
            <a:r>
              <a:rPr lang="en-US" b="true" sz="2499" spc="27">
                <a:solidFill>
                  <a:srgbClr val="000000"/>
                </a:solidFill>
                <a:latin typeface="Garet Bold"/>
                <a:ea typeface="Garet Bold"/>
                <a:cs typeface="Garet Bold"/>
                <a:sym typeface="Garet Bold"/>
              </a:rPr>
              <a:t>L</a:t>
            </a:r>
            <a:r>
              <a:rPr lang="en-US" b="true" sz="2499" spc="27">
                <a:solidFill>
                  <a:srgbClr val="000000"/>
                </a:solidFill>
                <a:latin typeface="Garet Bold"/>
                <a:ea typeface="Garet Bold"/>
                <a:cs typeface="Garet Bold"/>
                <a:sym typeface="Garet Bold"/>
              </a:rPr>
              <a:t>ogistics &amp; Delivery Services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5492" y="665064"/>
            <a:ext cx="19293211" cy="2213864"/>
            <a:chOff x="0" y="0"/>
            <a:chExt cx="5081339" cy="583075"/>
          </a:xfrm>
        </p:grpSpPr>
        <p:sp>
          <p:nvSpPr>
            <p:cNvPr name="Freeform 3" id="3"/>
            <p:cNvSpPr/>
            <p:nvPr/>
          </p:nvSpPr>
          <p:spPr>
            <a:xfrm flipH="false" flipV="false" rot="0">
              <a:off x="0" y="0"/>
              <a:ext cx="5081339" cy="583075"/>
            </a:xfrm>
            <a:custGeom>
              <a:avLst/>
              <a:gdLst/>
              <a:ahLst/>
              <a:cxnLst/>
              <a:rect r="r" b="b" t="t" l="l"/>
              <a:pathLst>
                <a:path h="583075" w="5081339">
                  <a:moveTo>
                    <a:pt x="0" y="0"/>
                  </a:moveTo>
                  <a:lnTo>
                    <a:pt x="5081339" y="0"/>
                  </a:lnTo>
                  <a:lnTo>
                    <a:pt x="5081339" y="583075"/>
                  </a:lnTo>
                  <a:lnTo>
                    <a:pt x="0" y="583075"/>
                  </a:lnTo>
                  <a:close/>
                </a:path>
              </a:pathLst>
            </a:custGeom>
            <a:solidFill>
              <a:srgbClr val="F1A50E"/>
            </a:solidFill>
          </p:spPr>
        </p:sp>
        <p:sp>
          <p:nvSpPr>
            <p:cNvPr name="TextBox 4" id="4"/>
            <p:cNvSpPr txBox="true"/>
            <p:nvPr/>
          </p:nvSpPr>
          <p:spPr>
            <a:xfrm>
              <a:off x="0" y="-38100"/>
              <a:ext cx="5081339" cy="621175"/>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0">
            <a:off x="929728" y="3715152"/>
            <a:ext cx="7736823" cy="5676498"/>
            <a:chOff x="0" y="0"/>
            <a:chExt cx="2037682" cy="1495045"/>
          </a:xfrm>
        </p:grpSpPr>
        <p:sp>
          <p:nvSpPr>
            <p:cNvPr name="Freeform 6" id="6"/>
            <p:cNvSpPr/>
            <p:nvPr/>
          </p:nvSpPr>
          <p:spPr>
            <a:xfrm flipH="false" flipV="false" rot="0">
              <a:off x="0" y="0"/>
              <a:ext cx="2037682" cy="1495045"/>
            </a:xfrm>
            <a:custGeom>
              <a:avLst/>
              <a:gdLst/>
              <a:ahLst/>
              <a:cxnLst/>
              <a:rect r="r" b="b" t="t" l="l"/>
              <a:pathLst>
                <a:path h="1495045" w="2037682">
                  <a:moveTo>
                    <a:pt x="51034" y="0"/>
                  </a:moveTo>
                  <a:lnTo>
                    <a:pt x="1986648" y="0"/>
                  </a:lnTo>
                  <a:cubicBezTo>
                    <a:pt x="2000183" y="0"/>
                    <a:pt x="2013164" y="5377"/>
                    <a:pt x="2022734" y="14947"/>
                  </a:cubicBezTo>
                  <a:cubicBezTo>
                    <a:pt x="2032305" y="24518"/>
                    <a:pt x="2037682" y="37499"/>
                    <a:pt x="2037682" y="51034"/>
                  </a:cubicBezTo>
                  <a:lnTo>
                    <a:pt x="2037682" y="1444011"/>
                  </a:lnTo>
                  <a:cubicBezTo>
                    <a:pt x="2037682" y="1457546"/>
                    <a:pt x="2032305" y="1470527"/>
                    <a:pt x="2022734" y="1480097"/>
                  </a:cubicBezTo>
                  <a:cubicBezTo>
                    <a:pt x="2013164" y="1489668"/>
                    <a:pt x="2000183" y="1495045"/>
                    <a:pt x="1986648" y="1495045"/>
                  </a:cubicBezTo>
                  <a:lnTo>
                    <a:pt x="51034" y="1495045"/>
                  </a:lnTo>
                  <a:cubicBezTo>
                    <a:pt x="22849" y="1495045"/>
                    <a:pt x="0" y="1472196"/>
                    <a:pt x="0" y="1444011"/>
                  </a:cubicBezTo>
                  <a:lnTo>
                    <a:pt x="0" y="51034"/>
                  </a:lnTo>
                  <a:cubicBezTo>
                    <a:pt x="0" y="37499"/>
                    <a:pt x="5377" y="24518"/>
                    <a:pt x="14947" y="14947"/>
                  </a:cubicBezTo>
                  <a:cubicBezTo>
                    <a:pt x="24518" y="5377"/>
                    <a:pt x="37499" y="0"/>
                    <a:pt x="51034" y="0"/>
                  </a:cubicBezTo>
                  <a:close/>
                </a:path>
              </a:pathLst>
            </a:custGeom>
            <a:solidFill>
              <a:srgbClr val="FFF7D5"/>
            </a:solidFill>
            <a:ln w="66675" cap="rnd">
              <a:solidFill>
                <a:srgbClr val="F1A50E"/>
              </a:solidFill>
              <a:prstDash val="solid"/>
              <a:round/>
            </a:ln>
          </p:spPr>
        </p:sp>
        <p:sp>
          <p:nvSpPr>
            <p:cNvPr name="TextBox 7" id="7"/>
            <p:cNvSpPr txBox="true"/>
            <p:nvPr/>
          </p:nvSpPr>
          <p:spPr>
            <a:xfrm>
              <a:off x="0" y="-38100"/>
              <a:ext cx="2037682" cy="1533145"/>
            </a:xfrm>
            <a:prstGeom prst="rect">
              <a:avLst/>
            </a:prstGeom>
          </p:spPr>
          <p:txBody>
            <a:bodyPr anchor="ctr" rtlCol="false" tIns="50800" lIns="50800" bIns="50800" rIns="50800"/>
            <a:lstStyle/>
            <a:p>
              <a:pPr algn="ctr">
                <a:lnSpc>
                  <a:spcPts val="3359"/>
                </a:lnSpc>
              </a:pPr>
            </a:p>
          </p:txBody>
        </p:sp>
      </p:grpSp>
      <p:sp>
        <p:nvSpPr>
          <p:cNvPr name="TextBox 8" id="8"/>
          <p:cNvSpPr txBox="true"/>
          <p:nvPr/>
        </p:nvSpPr>
        <p:spPr>
          <a:xfrm rot="0">
            <a:off x="7163457" y="1382424"/>
            <a:ext cx="11124543" cy="845820"/>
          </a:xfrm>
          <a:prstGeom prst="rect">
            <a:avLst/>
          </a:prstGeom>
        </p:spPr>
        <p:txBody>
          <a:bodyPr anchor="t" rtlCol="false" tIns="0" lIns="0" bIns="0" rIns="0">
            <a:spAutoFit/>
          </a:bodyPr>
          <a:lstStyle/>
          <a:p>
            <a:pPr algn="l">
              <a:lnSpc>
                <a:spcPts val="6540"/>
              </a:lnSpc>
            </a:pPr>
            <a:r>
              <a:rPr lang="en-US" sz="6000" b="true">
                <a:solidFill>
                  <a:srgbClr val="F7FBFF"/>
                </a:solidFill>
                <a:latin typeface="Garet Bold"/>
                <a:ea typeface="Garet Bold"/>
                <a:cs typeface="Garet Bold"/>
                <a:sym typeface="Garet Bold"/>
              </a:rPr>
              <a:t>CONT...</a:t>
            </a:r>
          </a:p>
        </p:txBody>
      </p:sp>
      <p:grpSp>
        <p:nvGrpSpPr>
          <p:cNvPr name="Group 9" id="9"/>
          <p:cNvGrpSpPr/>
          <p:nvPr/>
        </p:nvGrpSpPr>
        <p:grpSpPr>
          <a:xfrm rot="0">
            <a:off x="1177437" y="348047"/>
            <a:ext cx="2564062" cy="1957322"/>
            <a:chOff x="0" y="0"/>
            <a:chExt cx="3418750" cy="2609762"/>
          </a:xfrm>
        </p:grpSpPr>
        <p:sp>
          <p:nvSpPr>
            <p:cNvPr name="Freeform 10" id="10"/>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12" id="12"/>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13" id="13"/>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sp>
        <p:nvSpPr>
          <p:cNvPr name="TextBox 14" id="14"/>
          <p:cNvSpPr txBox="true"/>
          <p:nvPr/>
        </p:nvSpPr>
        <p:spPr>
          <a:xfrm rot="0">
            <a:off x="1263162" y="5309971"/>
            <a:ext cx="7056449" cy="34353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Corporate events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Conferences and</a:t>
            </a:r>
            <a:r>
              <a:rPr lang="en-US" sz="2299" spc="25">
                <a:solidFill>
                  <a:srgbClr val="000000"/>
                </a:solidFill>
                <a:latin typeface="Garet Light"/>
                <a:ea typeface="Garet Light"/>
                <a:cs typeface="Garet Light"/>
                <a:sym typeface="Garet Light"/>
              </a:rPr>
              <a:t> workshops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Pr</a:t>
            </a:r>
            <a:r>
              <a:rPr lang="en-US" sz="2299" spc="25">
                <a:solidFill>
                  <a:srgbClr val="000000"/>
                </a:solidFill>
                <a:latin typeface="Garet Light"/>
                <a:ea typeface="Garet Light"/>
                <a:cs typeface="Garet Light"/>
                <a:sym typeface="Garet Light"/>
              </a:rPr>
              <a:t>oduct launches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Gradua</a:t>
            </a:r>
            <a:r>
              <a:rPr lang="en-US" sz="2299" spc="25">
                <a:solidFill>
                  <a:srgbClr val="000000"/>
                </a:solidFill>
                <a:latin typeface="Garet Light"/>
                <a:ea typeface="Garet Light"/>
                <a:cs typeface="Garet Light"/>
                <a:sym typeface="Garet Light"/>
              </a:rPr>
              <a:t>tion ceremonies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Holiday celebrations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Tradit</a:t>
            </a:r>
            <a:r>
              <a:rPr lang="en-US" sz="2299" spc="25">
                <a:solidFill>
                  <a:srgbClr val="000000"/>
                </a:solidFill>
                <a:latin typeface="Garet Light"/>
                <a:ea typeface="Garet Light"/>
                <a:cs typeface="Garet Light"/>
                <a:sym typeface="Garet Light"/>
              </a:rPr>
              <a:t>ional and cultural events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V</a:t>
            </a:r>
            <a:r>
              <a:rPr lang="en-US" sz="2299" spc="25">
                <a:solidFill>
                  <a:srgbClr val="000000"/>
                </a:solidFill>
                <a:latin typeface="Garet Light"/>
                <a:ea typeface="Garet Light"/>
                <a:cs typeface="Garet Light"/>
                <a:sym typeface="Garet Light"/>
              </a:rPr>
              <a:t>IP guest hospitality arrangements</a:t>
            </a:r>
          </a:p>
        </p:txBody>
      </p:sp>
      <p:sp>
        <p:nvSpPr>
          <p:cNvPr name="TextBox 15" id="15"/>
          <p:cNvSpPr txBox="true"/>
          <p:nvPr/>
        </p:nvSpPr>
        <p:spPr>
          <a:xfrm rot="0">
            <a:off x="1460121" y="3076977"/>
            <a:ext cx="6662530" cy="498476"/>
          </a:xfrm>
          <a:prstGeom prst="rect">
            <a:avLst/>
          </a:prstGeom>
        </p:spPr>
        <p:txBody>
          <a:bodyPr anchor="t" rtlCol="false" tIns="0" lIns="0" bIns="0" rIns="0">
            <a:spAutoFit/>
          </a:bodyPr>
          <a:lstStyle/>
          <a:p>
            <a:pPr algn="ctr">
              <a:lnSpc>
                <a:spcPts val="4249"/>
              </a:lnSpc>
            </a:pPr>
            <a:r>
              <a:rPr lang="en-US" b="true" sz="2499" spc="27">
                <a:solidFill>
                  <a:srgbClr val="000000"/>
                </a:solidFill>
                <a:latin typeface="Garet Bold"/>
                <a:ea typeface="Garet Bold"/>
                <a:cs typeface="Garet Bold"/>
                <a:sym typeface="Garet Bold"/>
              </a:rPr>
              <a:t>Ev</a:t>
            </a:r>
            <a:r>
              <a:rPr lang="en-US" b="true" sz="2499" spc="27">
                <a:solidFill>
                  <a:srgbClr val="000000"/>
                </a:solidFill>
                <a:latin typeface="Garet Bold"/>
                <a:ea typeface="Garet Bold"/>
                <a:cs typeface="Garet Bold"/>
                <a:sym typeface="Garet Bold"/>
              </a:rPr>
              <a:t>ent Organizing Services</a:t>
            </a:r>
          </a:p>
        </p:txBody>
      </p:sp>
      <p:grpSp>
        <p:nvGrpSpPr>
          <p:cNvPr name="Group 16" id="16"/>
          <p:cNvGrpSpPr/>
          <p:nvPr/>
        </p:nvGrpSpPr>
        <p:grpSpPr>
          <a:xfrm rot="0">
            <a:off x="9578180" y="4259951"/>
            <a:ext cx="7766845" cy="4320201"/>
            <a:chOff x="0" y="0"/>
            <a:chExt cx="2045589" cy="1137831"/>
          </a:xfrm>
        </p:grpSpPr>
        <p:sp>
          <p:nvSpPr>
            <p:cNvPr name="Freeform 17" id="17"/>
            <p:cNvSpPr/>
            <p:nvPr/>
          </p:nvSpPr>
          <p:spPr>
            <a:xfrm flipH="false" flipV="false" rot="0">
              <a:off x="0" y="0"/>
              <a:ext cx="2045589" cy="1137831"/>
            </a:xfrm>
            <a:custGeom>
              <a:avLst/>
              <a:gdLst/>
              <a:ahLst/>
              <a:cxnLst/>
              <a:rect r="r" b="b" t="t" l="l"/>
              <a:pathLst>
                <a:path h="1137831" w="2045589">
                  <a:moveTo>
                    <a:pt x="50836" y="0"/>
                  </a:moveTo>
                  <a:lnTo>
                    <a:pt x="1994752" y="0"/>
                  </a:lnTo>
                  <a:cubicBezTo>
                    <a:pt x="2008235" y="0"/>
                    <a:pt x="2021165" y="5356"/>
                    <a:pt x="2030699" y="14890"/>
                  </a:cubicBezTo>
                  <a:cubicBezTo>
                    <a:pt x="2040233" y="24423"/>
                    <a:pt x="2045589" y="37354"/>
                    <a:pt x="2045589" y="50836"/>
                  </a:cubicBezTo>
                  <a:lnTo>
                    <a:pt x="2045589" y="1086994"/>
                  </a:lnTo>
                  <a:cubicBezTo>
                    <a:pt x="2045589" y="1100477"/>
                    <a:pt x="2040233" y="1113407"/>
                    <a:pt x="2030699" y="1122941"/>
                  </a:cubicBezTo>
                  <a:cubicBezTo>
                    <a:pt x="2021165" y="1132475"/>
                    <a:pt x="2008235" y="1137831"/>
                    <a:pt x="1994752" y="1137831"/>
                  </a:cubicBezTo>
                  <a:lnTo>
                    <a:pt x="50836" y="1137831"/>
                  </a:lnTo>
                  <a:cubicBezTo>
                    <a:pt x="37354" y="1137831"/>
                    <a:pt x="24423" y="1132475"/>
                    <a:pt x="14890" y="1122941"/>
                  </a:cubicBezTo>
                  <a:cubicBezTo>
                    <a:pt x="5356" y="1113407"/>
                    <a:pt x="0" y="1100477"/>
                    <a:pt x="0" y="1086994"/>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18" id="18"/>
            <p:cNvSpPr txBox="true"/>
            <p:nvPr/>
          </p:nvSpPr>
          <p:spPr>
            <a:xfrm>
              <a:off x="0" y="-38100"/>
              <a:ext cx="2045589" cy="1175931"/>
            </a:xfrm>
            <a:prstGeom prst="rect">
              <a:avLst/>
            </a:prstGeom>
          </p:spPr>
          <p:txBody>
            <a:bodyPr anchor="ctr" rtlCol="false" tIns="50800" lIns="50800" bIns="50800" rIns="50800"/>
            <a:lstStyle/>
            <a:p>
              <a:pPr algn="ctr">
                <a:lnSpc>
                  <a:spcPts val="3359"/>
                </a:lnSpc>
              </a:pPr>
            </a:p>
          </p:txBody>
        </p:sp>
      </p:grpSp>
      <p:sp>
        <p:nvSpPr>
          <p:cNvPr name="TextBox 19" id="19"/>
          <p:cNvSpPr txBox="true"/>
          <p:nvPr/>
        </p:nvSpPr>
        <p:spPr>
          <a:xfrm rot="0">
            <a:off x="9972099" y="4954301"/>
            <a:ext cx="7056449" cy="34353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Venue</a:t>
            </a:r>
            <a:r>
              <a:rPr lang="en-US" sz="2299" spc="25">
                <a:solidFill>
                  <a:srgbClr val="000000"/>
                </a:solidFill>
                <a:latin typeface="Garet Light"/>
                <a:ea typeface="Garet Light"/>
                <a:cs typeface="Garet Light"/>
                <a:sym typeface="Garet Light"/>
              </a:rPr>
              <a:t> coordination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Decorat</a:t>
            </a:r>
            <a:r>
              <a:rPr lang="en-US" sz="2299" spc="25">
                <a:solidFill>
                  <a:srgbClr val="000000"/>
                </a:solidFill>
                <a:latin typeface="Garet Light"/>
                <a:ea typeface="Garet Light"/>
                <a:cs typeface="Garet Light"/>
                <a:sym typeface="Garet Light"/>
              </a:rPr>
              <a:t>ion and branding</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Catering coordination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Audio-v</a:t>
            </a:r>
            <a:r>
              <a:rPr lang="en-US" sz="2299" spc="25">
                <a:solidFill>
                  <a:srgbClr val="000000"/>
                </a:solidFill>
                <a:latin typeface="Garet Light"/>
                <a:ea typeface="Garet Light"/>
                <a:cs typeface="Garet Light"/>
                <a:sym typeface="Garet Light"/>
              </a:rPr>
              <a:t>isual setup</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Guest management</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Tra</a:t>
            </a:r>
            <a:r>
              <a:rPr lang="en-US" sz="2299" spc="25">
                <a:solidFill>
                  <a:srgbClr val="000000"/>
                </a:solidFill>
                <a:latin typeface="Garet Light"/>
                <a:ea typeface="Garet Light"/>
                <a:cs typeface="Garet Light"/>
                <a:sym typeface="Garet Light"/>
              </a:rPr>
              <a:t>nsportation arrangements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Ev</a:t>
            </a:r>
            <a:r>
              <a:rPr lang="en-US" sz="2299" spc="25">
                <a:solidFill>
                  <a:srgbClr val="000000"/>
                </a:solidFill>
                <a:latin typeface="Garet Light"/>
                <a:ea typeface="Garet Light"/>
                <a:cs typeface="Garet Light"/>
                <a:sym typeface="Garet Light"/>
              </a:rPr>
              <a:t>ent logistics and supervision</a:t>
            </a:r>
          </a:p>
        </p:txBody>
      </p:sp>
      <p:sp>
        <p:nvSpPr>
          <p:cNvPr name="TextBox 20" id="20"/>
          <p:cNvSpPr txBox="true"/>
          <p:nvPr/>
        </p:nvSpPr>
        <p:spPr>
          <a:xfrm rot="0">
            <a:off x="9972099" y="4344771"/>
            <a:ext cx="6662530" cy="466725"/>
          </a:xfrm>
          <a:prstGeom prst="rect">
            <a:avLst/>
          </a:prstGeom>
        </p:spPr>
        <p:txBody>
          <a:bodyPr anchor="t" rtlCol="false" tIns="0" lIns="0" bIns="0" rIns="0">
            <a:spAutoFit/>
          </a:bodyPr>
          <a:lstStyle/>
          <a:p>
            <a:pPr algn="l">
              <a:lnSpc>
                <a:spcPts val="4079"/>
              </a:lnSpc>
            </a:pPr>
            <a:r>
              <a:rPr lang="en-US" sz="2399" spc="26" b="true">
                <a:solidFill>
                  <a:srgbClr val="000000"/>
                </a:solidFill>
                <a:latin typeface="Garet Bold"/>
                <a:ea typeface="Garet Bold"/>
                <a:cs typeface="Garet Bold"/>
                <a:sym typeface="Garet Bold"/>
              </a:rPr>
              <a:t>Services include</a:t>
            </a:r>
          </a:p>
        </p:txBody>
      </p:sp>
      <p:sp>
        <p:nvSpPr>
          <p:cNvPr name="TextBox 21" id="21"/>
          <p:cNvSpPr txBox="true"/>
          <p:nvPr/>
        </p:nvSpPr>
        <p:spPr>
          <a:xfrm rot="0">
            <a:off x="1263162" y="4189196"/>
            <a:ext cx="7056449" cy="9588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SINA provides com</a:t>
            </a:r>
            <a:r>
              <a:rPr lang="en-US" sz="2299" spc="25">
                <a:solidFill>
                  <a:srgbClr val="000000"/>
                </a:solidFill>
                <a:latin typeface="Garet Light"/>
                <a:ea typeface="Garet Light"/>
                <a:cs typeface="Garet Light"/>
                <a:sym typeface="Garet Light"/>
              </a:rPr>
              <a:t>plete event planning and coordination services for: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5492" y="665064"/>
            <a:ext cx="19293211" cy="2213864"/>
            <a:chOff x="0" y="0"/>
            <a:chExt cx="5081339" cy="583075"/>
          </a:xfrm>
        </p:grpSpPr>
        <p:sp>
          <p:nvSpPr>
            <p:cNvPr name="Freeform 3" id="3"/>
            <p:cNvSpPr/>
            <p:nvPr/>
          </p:nvSpPr>
          <p:spPr>
            <a:xfrm flipH="false" flipV="false" rot="0">
              <a:off x="0" y="0"/>
              <a:ext cx="5081339" cy="583075"/>
            </a:xfrm>
            <a:custGeom>
              <a:avLst/>
              <a:gdLst/>
              <a:ahLst/>
              <a:cxnLst/>
              <a:rect r="r" b="b" t="t" l="l"/>
              <a:pathLst>
                <a:path h="583075" w="5081339">
                  <a:moveTo>
                    <a:pt x="0" y="0"/>
                  </a:moveTo>
                  <a:lnTo>
                    <a:pt x="5081339" y="0"/>
                  </a:lnTo>
                  <a:lnTo>
                    <a:pt x="5081339" y="583075"/>
                  </a:lnTo>
                  <a:lnTo>
                    <a:pt x="0" y="583075"/>
                  </a:lnTo>
                  <a:close/>
                </a:path>
              </a:pathLst>
            </a:custGeom>
            <a:solidFill>
              <a:srgbClr val="F1A50E"/>
            </a:solidFill>
          </p:spPr>
        </p:sp>
        <p:sp>
          <p:nvSpPr>
            <p:cNvPr name="TextBox 4" id="4"/>
            <p:cNvSpPr txBox="true"/>
            <p:nvPr/>
          </p:nvSpPr>
          <p:spPr>
            <a:xfrm>
              <a:off x="0" y="-38100"/>
              <a:ext cx="5081339" cy="62117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7163457" y="1382424"/>
            <a:ext cx="11124543" cy="845820"/>
          </a:xfrm>
          <a:prstGeom prst="rect">
            <a:avLst/>
          </a:prstGeom>
        </p:spPr>
        <p:txBody>
          <a:bodyPr anchor="t" rtlCol="false" tIns="0" lIns="0" bIns="0" rIns="0">
            <a:spAutoFit/>
          </a:bodyPr>
          <a:lstStyle/>
          <a:p>
            <a:pPr algn="l">
              <a:lnSpc>
                <a:spcPts val="6540"/>
              </a:lnSpc>
            </a:pPr>
            <a:r>
              <a:rPr lang="en-US" sz="6000" b="true">
                <a:solidFill>
                  <a:srgbClr val="F7FBFF"/>
                </a:solidFill>
                <a:latin typeface="Garet Bold"/>
                <a:ea typeface="Garet Bold"/>
                <a:cs typeface="Garet Bold"/>
                <a:sym typeface="Garet Bold"/>
              </a:rPr>
              <a:t>CONT...</a:t>
            </a:r>
          </a:p>
        </p:txBody>
      </p:sp>
      <p:grpSp>
        <p:nvGrpSpPr>
          <p:cNvPr name="Group 6" id="6"/>
          <p:cNvGrpSpPr/>
          <p:nvPr/>
        </p:nvGrpSpPr>
        <p:grpSpPr>
          <a:xfrm rot="0">
            <a:off x="1177437" y="348047"/>
            <a:ext cx="2564062" cy="1957322"/>
            <a:chOff x="0" y="0"/>
            <a:chExt cx="3418750" cy="2609762"/>
          </a:xfrm>
        </p:grpSpPr>
        <p:sp>
          <p:nvSpPr>
            <p:cNvPr name="Freeform 7" id="7"/>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9" id="9"/>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10" id="10"/>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grpSp>
        <p:nvGrpSpPr>
          <p:cNvPr name="Group 11" id="11"/>
          <p:cNvGrpSpPr/>
          <p:nvPr/>
        </p:nvGrpSpPr>
        <p:grpSpPr>
          <a:xfrm rot="0">
            <a:off x="9530555" y="4827688"/>
            <a:ext cx="7766845" cy="3184726"/>
            <a:chOff x="0" y="0"/>
            <a:chExt cx="2045589" cy="838776"/>
          </a:xfrm>
        </p:grpSpPr>
        <p:sp>
          <p:nvSpPr>
            <p:cNvPr name="Freeform 12" id="12"/>
            <p:cNvSpPr/>
            <p:nvPr/>
          </p:nvSpPr>
          <p:spPr>
            <a:xfrm flipH="false" flipV="false" rot="0">
              <a:off x="0" y="0"/>
              <a:ext cx="2045589" cy="838776"/>
            </a:xfrm>
            <a:custGeom>
              <a:avLst/>
              <a:gdLst/>
              <a:ahLst/>
              <a:cxnLst/>
              <a:rect r="r" b="b" t="t" l="l"/>
              <a:pathLst>
                <a:path h="838776" w="2045589">
                  <a:moveTo>
                    <a:pt x="50836" y="0"/>
                  </a:moveTo>
                  <a:lnTo>
                    <a:pt x="1994752" y="0"/>
                  </a:lnTo>
                  <a:cubicBezTo>
                    <a:pt x="2008235" y="0"/>
                    <a:pt x="2021165" y="5356"/>
                    <a:pt x="2030699" y="14890"/>
                  </a:cubicBezTo>
                  <a:cubicBezTo>
                    <a:pt x="2040233" y="24423"/>
                    <a:pt x="2045589" y="37354"/>
                    <a:pt x="2045589" y="50836"/>
                  </a:cubicBezTo>
                  <a:lnTo>
                    <a:pt x="2045589" y="787939"/>
                  </a:lnTo>
                  <a:cubicBezTo>
                    <a:pt x="2045589" y="801422"/>
                    <a:pt x="2040233" y="814352"/>
                    <a:pt x="2030699" y="823886"/>
                  </a:cubicBezTo>
                  <a:cubicBezTo>
                    <a:pt x="2021165" y="833420"/>
                    <a:pt x="2008235" y="838776"/>
                    <a:pt x="1994752" y="838776"/>
                  </a:cubicBezTo>
                  <a:lnTo>
                    <a:pt x="50836" y="838776"/>
                  </a:lnTo>
                  <a:cubicBezTo>
                    <a:pt x="37354" y="838776"/>
                    <a:pt x="24423" y="833420"/>
                    <a:pt x="14890" y="823886"/>
                  </a:cubicBezTo>
                  <a:cubicBezTo>
                    <a:pt x="5356" y="814352"/>
                    <a:pt x="0" y="801422"/>
                    <a:pt x="0" y="787939"/>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13" id="13"/>
            <p:cNvSpPr txBox="true"/>
            <p:nvPr/>
          </p:nvSpPr>
          <p:spPr>
            <a:xfrm>
              <a:off x="0" y="-38100"/>
              <a:ext cx="2045589" cy="876876"/>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9924474" y="5526764"/>
            <a:ext cx="7056449" cy="19494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Spa f</a:t>
            </a:r>
            <a:r>
              <a:rPr lang="en-US" sz="2299" spc="25">
                <a:solidFill>
                  <a:srgbClr val="000000"/>
                </a:solidFill>
                <a:latin typeface="Garet Light"/>
                <a:ea typeface="Garet Light"/>
                <a:cs typeface="Garet Light"/>
                <a:sym typeface="Garet Light"/>
              </a:rPr>
              <a:t>acilities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Gym operations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Swimming poo</a:t>
            </a:r>
            <a:r>
              <a:rPr lang="en-US" sz="2299" spc="25">
                <a:solidFill>
                  <a:srgbClr val="000000"/>
                </a:solidFill>
                <a:latin typeface="Garet Light"/>
                <a:ea typeface="Garet Light"/>
                <a:cs typeface="Garet Light"/>
                <a:sym typeface="Garet Light"/>
              </a:rPr>
              <a:t>l facilities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R</a:t>
            </a:r>
            <a:r>
              <a:rPr lang="en-US" sz="2299" spc="25">
                <a:solidFill>
                  <a:srgbClr val="000000"/>
                </a:solidFill>
                <a:latin typeface="Garet Light"/>
                <a:ea typeface="Garet Light"/>
                <a:cs typeface="Garet Light"/>
                <a:sym typeface="Garet Light"/>
              </a:rPr>
              <a:t>ecreational service areas</a:t>
            </a:r>
          </a:p>
        </p:txBody>
      </p:sp>
      <p:sp>
        <p:nvSpPr>
          <p:cNvPr name="TextBox 15" id="15"/>
          <p:cNvSpPr txBox="true"/>
          <p:nvPr/>
        </p:nvSpPr>
        <p:spPr>
          <a:xfrm rot="0">
            <a:off x="9924474" y="4912508"/>
            <a:ext cx="6662530" cy="466725"/>
          </a:xfrm>
          <a:prstGeom prst="rect">
            <a:avLst/>
          </a:prstGeom>
        </p:spPr>
        <p:txBody>
          <a:bodyPr anchor="t" rtlCol="false" tIns="0" lIns="0" bIns="0" rIns="0">
            <a:spAutoFit/>
          </a:bodyPr>
          <a:lstStyle/>
          <a:p>
            <a:pPr algn="l">
              <a:lnSpc>
                <a:spcPts val="4079"/>
              </a:lnSpc>
            </a:pPr>
            <a:r>
              <a:rPr lang="en-US" sz="2399" spc="26" b="true">
                <a:solidFill>
                  <a:srgbClr val="000000"/>
                </a:solidFill>
                <a:latin typeface="Garet Bold"/>
                <a:ea typeface="Garet Bold"/>
                <a:cs typeface="Garet Bold"/>
                <a:sym typeface="Garet Bold"/>
              </a:rPr>
              <a:t>S</a:t>
            </a:r>
            <a:r>
              <a:rPr lang="en-US" sz="2399" spc="26" b="true">
                <a:solidFill>
                  <a:srgbClr val="000000"/>
                </a:solidFill>
                <a:latin typeface="Garet Bold"/>
                <a:ea typeface="Garet Bold"/>
                <a:cs typeface="Garet Bold"/>
                <a:sym typeface="Garet Bold"/>
              </a:rPr>
              <a:t>pecialized management for:</a:t>
            </a:r>
          </a:p>
        </p:txBody>
      </p:sp>
      <p:grpSp>
        <p:nvGrpSpPr>
          <p:cNvPr name="Group 16" id="16"/>
          <p:cNvGrpSpPr/>
          <p:nvPr/>
        </p:nvGrpSpPr>
        <p:grpSpPr>
          <a:xfrm rot="0">
            <a:off x="844003" y="3720390"/>
            <a:ext cx="7736823" cy="5676498"/>
            <a:chOff x="0" y="0"/>
            <a:chExt cx="2037682" cy="1495045"/>
          </a:xfrm>
        </p:grpSpPr>
        <p:sp>
          <p:nvSpPr>
            <p:cNvPr name="Freeform 17" id="17"/>
            <p:cNvSpPr/>
            <p:nvPr/>
          </p:nvSpPr>
          <p:spPr>
            <a:xfrm flipH="false" flipV="false" rot="0">
              <a:off x="0" y="0"/>
              <a:ext cx="2037682" cy="1495045"/>
            </a:xfrm>
            <a:custGeom>
              <a:avLst/>
              <a:gdLst/>
              <a:ahLst/>
              <a:cxnLst/>
              <a:rect r="r" b="b" t="t" l="l"/>
              <a:pathLst>
                <a:path h="1495045" w="2037682">
                  <a:moveTo>
                    <a:pt x="51034" y="0"/>
                  </a:moveTo>
                  <a:lnTo>
                    <a:pt x="1986648" y="0"/>
                  </a:lnTo>
                  <a:cubicBezTo>
                    <a:pt x="2000183" y="0"/>
                    <a:pt x="2013164" y="5377"/>
                    <a:pt x="2022734" y="14947"/>
                  </a:cubicBezTo>
                  <a:cubicBezTo>
                    <a:pt x="2032305" y="24518"/>
                    <a:pt x="2037682" y="37499"/>
                    <a:pt x="2037682" y="51034"/>
                  </a:cubicBezTo>
                  <a:lnTo>
                    <a:pt x="2037682" y="1444011"/>
                  </a:lnTo>
                  <a:cubicBezTo>
                    <a:pt x="2037682" y="1457546"/>
                    <a:pt x="2032305" y="1470527"/>
                    <a:pt x="2022734" y="1480097"/>
                  </a:cubicBezTo>
                  <a:cubicBezTo>
                    <a:pt x="2013164" y="1489668"/>
                    <a:pt x="2000183" y="1495045"/>
                    <a:pt x="1986648" y="1495045"/>
                  </a:cubicBezTo>
                  <a:lnTo>
                    <a:pt x="51034" y="1495045"/>
                  </a:lnTo>
                  <a:cubicBezTo>
                    <a:pt x="22849" y="1495045"/>
                    <a:pt x="0" y="1472196"/>
                    <a:pt x="0" y="1444011"/>
                  </a:cubicBezTo>
                  <a:lnTo>
                    <a:pt x="0" y="51034"/>
                  </a:lnTo>
                  <a:cubicBezTo>
                    <a:pt x="0" y="37499"/>
                    <a:pt x="5377" y="24518"/>
                    <a:pt x="14947" y="14947"/>
                  </a:cubicBezTo>
                  <a:cubicBezTo>
                    <a:pt x="24518" y="5377"/>
                    <a:pt x="37499" y="0"/>
                    <a:pt x="51034" y="0"/>
                  </a:cubicBezTo>
                  <a:close/>
                </a:path>
              </a:pathLst>
            </a:custGeom>
            <a:solidFill>
              <a:srgbClr val="FFF7D5"/>
            </a:solidFill>
            <a:ln w="66675" cap="rnd">
              <a:solidFill>
                <a:srgbClr val="F1A50E"/>
              </a:solidFill>
              <a:prstDash val="solid"/>
              <a:round/>
            </a:ln>
          </p:spPr>
        </p:sp>
        <p:sp>
          <p:nvSpPr>
            <p:cNvPr name="TextBox 18" id="18"/>
            <p:cNvSpPr txBox="true"/>
            <p:nvPr/>
          </p:nvSpPr>
          <p:spPr>
            <a:xfrm>
              <a:off x="0" y="-38100"/>
              <a:ext cx="2037682" cy="1533145"/>
            </a:xfrm>
            <a:prstGeom prst="rect">
              <a:avLst/>
            </a:prstGeom>
          </p:spPr>
          <p:txBody>
            <a:bodyPr anchor="ctr" rtlCol="false" tIns="50800" lIns="50800" bIns="50800" rIns="50800"/>
            <a:lstStyle/>
            <a:p>
              <a:pPr algn="ctr">
                <a:lnSpc>
                  <a:spcPts val="3359"/>
                </a:lnSpc>
              </a:pPr>
            </a:p>
          </p:txBody>
        </p:sp>
      </p:grpSp>
      <p:sp>
        <p:nvSpPr>
          <p:cNvPr name="TextBox 19" id="19"/>
          <p:cNvSpPr txBox="true"/>
          <p:nvPr/>
        </p:nvSpPr>
        <p:spPr>
          <a:xfrm rot="0">
            <a:off x="1184190" y="4867534"/>
            <a:ext cx="7056449" cy="39306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Commercial property management</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R</a:t>
            </a:r>
            <a:r>
              <a:rPr lang="en-US" sz="2299" spc="25">
                <a:solidFill>
                  <a:srgbClr val="000000"/>
                </a:solidFill>
                <a:latin typeface="Garet Light"/>
                <a:ea typeface="Garet Light"/>
                <a:cs typeface="Garet Light"/>
                <a:sym typeface="Garet Light"/>
              </a:rPr>
              <a:t>esidential</a:t>
            </a:r>
            <a:r>
              <a:rPr lang="en-US" sz="2299" spc="25">
                <a:solidFill>
                  <a:srgbClr val="000000"/>
                </a:solidFill>
                <a:latin typeface="Garet Light"/>
                <a:ea typeface="Garet Light"/>
                <a:cs typeface="Garet Light"/>
                <a:sym typeface="Garet Light"/>
              </a:rPr>
              <a:t> property management</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Fa</a:t>
            </a:r>
            <a:r>
              <a:rPr lang="en-US" sz="2299" spc="25">
                <a:solidFill>
                  <a:srgbClr val="000000"/>
                </a:solidFill>
                <a:latin typeface="Garet Light"/>
                <a:ea typeface="Garet Light"/>
                <a:cs typeface="Garet Light"/>
                <a:sym typeface="Garet Light"/>
              </a:rPr>
              <a:t>cility maintenance coo</a:t>
            </a:r>
            <a:r>
              <a:rPr lang="en-US" sz="2299" spc="25">
                <a:solidFill>
                  <a:srgbClr val="000000"/>
                </a:solidFill>
                <a:latin typeface="Garet Light"/>
                <a:ea typeface="Garet Light"/>
                <a:cs typeface="Garet Light"/>
                <a:sym typeface="Garet Light"/>
              </a:rPr>
              <a:t>rdina</a:t>
            </a:r>
            <a:r>
              <a:rPr lang="en-US" sz="2299" spc="25">
                <a:solidFill>
                  <a:srgbClr val="000000"/>
                </a:solidFill>
                <a:latin typeface="Garet Light"/>
                <a:ea typeface="Garet Light"/>
                <a:cs typeface="Garet Light"/>
                <a:sym typeface="Garet Light"/>
              </a:rPr>
              <a:t>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Utility payment management</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C</a:t>
            </a:r>
            <a:r>
              <a:rPr lang="en-US" sz="2299" spc="25">
                <a:solidFill>
                  <a:srgbClr val="000000"/>
                </a:solidFill>
                <a:latin typeface="Garet Light"/>
                <a:ea typeface="Garet Light"/>
                <a:cs typeface="Garet Light"/>
                <a:sym typeface="Garet Light"/>
              </a:rPr>
              <a:t>leaning and housekeeping supervision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Security serv</a:t>
            </a:r>
            <a:r>
              <a:rPr lang="en-US" sz="2299" spc="25">
                <a:solidFill>
                  <a:srgbClr val="000000"/>
                </a:solidFill>
                <a:latin typeface="Garet Light"/>
                <a:ea typeface="Garet Light"/>
                <a:cs typeface="Garet Light"/>
                <a:sym typeface="Garet Light"/>
              </a:rPr>
              <a:t>ice coordination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Tenant communication support</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Ro</a:t>
            </a:r>
            <a:r>
              <a:rPr lang="en-US" sz="2299" spc="25">
                <a:solidFill>
                  <a:srgbClr val="000000"/>
                </a:solidFill>
                <a:latin typeface="Garet Light"/>
                <a:ea typeface="Garet Light"/>
                <a:cs typeface="Garet Light"/>
                <a:sym typeface="Garet Light"/>
              </a:rPr>
              <a:t>utine inspection and reporting</a:t>
            </a:r>
          </a:p>
        </p:txBody>
      </p:sp>
      <p:sp>
        <p:nvSpPr>
          <p:cNvPr name="TextBox 20" id="20"/>
          <p:cNvSpPr txBox="true"/>
          <p:nvPr/>
        </p:nvSpPr>
        <p:spPr>
          <a:xfrm rot="0">
            <a:off x="1374396" y="3076977"/>
            <a:ext cx="6662530" cy="498476"/>
          </a:xfrm>
          <a:prstGeom prst="rect">
            <a:avLst/>
          </a:prstGeom>
        </p:spPr>
        <p:txBody>
          <a:bodyPr anchor="t" rtlCol="false" tIns="0" lIns="0" bIns="0" rIns="0">
            <a:spAutoFit/>
          </a:bodyPr>
          <a:lstStyle/>
          <a:p>
            <a:pPr algn="ctr">
              <a:lnSpc>
                <a:spcPts val="4249"/>
              </a:lnSpc>
            </a:pPr>
            <a:r>
              <a:rPr lang="en-US" b="true" sz="2499" spc="27">
                <a:solidFill>
                  <a:srgbClr val="000000"/>
                </a:solidFill>
                <a:latin typeface="Garet Bold"/>
                <a:ea typeface="Garet Bold"/>
                <a:cs typeface="Garet Bold"/>
                <a:sym typeface="Garet Bold"/>
              </a:rPr>
              <a:t>Prop</a:t>
            </a:r>
            <a:r>
              <a:rPr lang="en-US" b="true" sz="2499" spc="27">
                <a:solidFill>
                  <a:srgbClr val="000000"/>
                </a:solidFill>
                <a:latin typeface="Garet Bold"/>
                <a:ea typeface="Garet Bold"/>
                <a:cs typeface="Garet Bold"/>
                <a:sym typeface="Garet Bold"/>
              </a:rPr>
              <a:t>erty Management Services</a:t>
            </a:r>
          </a:p>
        </p:txBody>
      </p:sp>
      <p:sp>
        <p:nvSpPr>
          <p:cNvPr name="TextBox 21" id="21"/>
          <p:cNvSpPr txBox="true"/>
          <p:nvPr/>
        </p:nvSpPr>
        <p:spPr>
          <a:xfrm rot="0">
            <a:off x="1177437" y="4194434"/>
            <a:ext cx="7056449"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Our pro</a:t>
            </a:r>
            <a:r>
              <a:rPr lang="en-US" sz="2299" spc="25">
                <a:solidFill>
                  <a:srgbClr val="000000"/>
                </a:solidFill>
                <a:latin typeface="Garet Light"/>
                <a:ea typeface="Garet Light"/>
                <a:cs typeface="Garet Light"/>
                <a:sym typeface="Garet Light"/>
              </a:rPr>
              <a:t>perty management solutions include: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785492" y="488462"/>
            <a:ext cx="19293211" cy="2213864"/>
            <a:chOff x="0" y="0"/>
            <a:chExt cx="5081339" cy="583075"/>
          </a:xfrm>
        </p:grpSpPr>
        <p:sp>
          <p:nvSpPr>
            <p:cNvPr name="Freeform 3" id="3"/>
            <p:cNvSpPr/>
            <p:nvPr/>
          </p:nvSpPr>
          <p:spPr>
            <a:xfrm flipH="false" flipV="false" rot="0">
              <a:off x="0" y="0"/>
              <a:ext cx="5081339" cy="583075"/>
            </a:xfrm>
            <a:custGeom>
              <a:avLst/>
              <a:gdLst/>
              <a:ahLst/>
              <a:cxnLst/>
              <a:rect r="r" b="b" t="t" l="l"/>
              <a:pathLst>
                <a:path h="583075" w="5081339">
                  <a:moveTo>
                    <a:pt x="0" y="0"/>
                  </a:moveTo>
                  <a:lnTo>
                    <a:pt x="5081339" y="0"/>
                  </a:lnTo>
                  <a:lnTo>
                    <a:pt x="5081339" y="583075"/>
                  </a:lnTo>
                  <a:lnTo>
                    <a:pt x="0" y="583075"/>
                  </a:lnTo>
                  <a:close/>
                </a:path>
              </a:pathLst>
            </a:custGeom>
            <a:solidFill>
              <a:srgbClr val="F1A50E"/>
            </a:solidFill>
          </p:spPr>
        </p:sp>
        <p:sp>
          <p:nvSpPr>
            <p:cNvPr name="TextBox 4" id="4"/>
            <p:cNvSpPr txBox="true"/>
            <p:nvPr/>
          </p:nvSpPr>
          <p:spPr>
            <a:xfrm>
              <a:off x="0" y="-38100"/>
              <a:ext cx="5081339" cy="621175"/>
            </a:xfrm>
            <a:prstGeom prst="rect">
              <a:avLst/>
            </a:prstGeom>
          </p:spPr>
          <p:txBody>
            <a:bodyPr anchor="ctr" rtlCol="false" tIns="50800" lIns="50800" bIns="50800" rIns="50800"/>
            <a:lstStyle/>
            <a:p>
              <a:pPr algn="ctr">
                <a:lnSpc>
                  <a:spcPts val="3359"/>
                </a:lnSpc>
              </a:pPr>
            </a:p>
          </p:txBody>
        </p:sp>
      </p:grpSp>
      <p:sp>
        <p:nvSpPr>
          <p:cNvPr name="TextBox 5" id="5"/>
          <p:cNvSpPr txBox="true"/>
          <p:nvPr/>
        </p:nvSpPr>
        <p:spPr>
          <a:xfrm rot="0">
            <a:off x="7163457" y="1205822"/>
            <a:ext cx="11124543" cy="845820"/>
          </a:xfrm>
          <a:prstGeom prst="rect">
            <a:avLst/>
          </a:prstGeom>
        </p:spPr>
        <p:txBody>
          <a:bodyPr anchor="t" rtlCol="false" tIns="0" lIns="0" bIns="0" rIns="0">
            <a:spAutoFit/>
          </a:bodyPr>
          <a:lstStyle/>
          <a:p>
            <a:pPr algn="l">
              <a:lnSpc>
                <a:spcPts val="6540"/>
              </a:lnSpc>
            </a:pPr>
            <a:r>
              <a:rPr lang="en-US" sz="6000" b="true">
                <a:solidFill>
                  <a:srgbClr val="F7FBFF"/>
                </a:solidFill>
                <a:latin typeface="Garet Bold"/>
                <a:ea typeface="Garet Bold"/>
                <a:cs typeface="Garet Bold"/>
                <a:sym typeface="Garet Bold"/>
              </a:rPr>
              <a:t>CONT...</a:t>
            </a:r>
          </a:p>
        </p:txBody>
      </p:sp>
      <p:grpSp>
        <p:nvGrpSpPr>
          <p:cNvPr name="Group 6" id="6"/>
          <p:cNvGrpSpPr/>
          <p:nvPr/>
        </p:nvGrpSpPr>
        <p:grpSpPr>
          <a:xfrm rot="0">
            <a:off x="1177437" y="348047"/>
            <a:ext cx="2564062" cy="1957322"/>
            <a:chOff x="0" y="0"/>
            <a:chExt cx="3418750" cy="2609762"/>
          </a:xfrm>
        </p:grpSpPr>
        <p:sp>
          <p:nvSpPr>
            <p:cNvPr name="Freeform 7" id="7"/>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8" id="8"/>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9" id="9"/>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10" id="10"/>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grpSp>
        <p:nvGrpSpPr>
          <p:cNvPr name="Group 11" id="11"/>
          <p:cNvGrpSpPr/>
          <p:nvPr/>
        </p:nvGrpSpPr>
        <p:grpSpPr>
          <a:xfrm rot="0">
            <a:off x="9530555" y="4827688"/>
            <a:ext cx="7766845" cy="3184726"/>
            <a:chOff x="0" y="0"/>
            <a:chExt cx="2045589" cy="838776"/>
          </a:xfrm>
        </p:grpSpPr>
        <p:sp>
          <p:nvSpPr>
            <p:cNvPr name="Freeform 12" id="12"/>
            <p:cNvSpPr/>
            <p:nvPr/>
          </p:nvSpPr>
          <p:spPr>
            <a:xfrm flipH="false" flipV="false" rot="0">
              <a:off x="0" y="0"/>
              <a:ext cx="2045589" cy="838776"/>
            </a:xfrm>
            <a:custGeom>
              <a:avLst/>
              <a:gdLst/>
              <a:ahLst/>
              <a:cxnLst/>
              <a:rect r="r" b="b" t="t" l="l"/>
              <a:pathLst>
                <a:path h="838776" w="2045589">
                  <a:moveTo>
                    <a:pt x="50836" y="0"/>
                  </a:moveTo>
                  <a:lnTo>
                    <a:pt x="1994752" y="0"/>
                  </a:lnTo>
                  <a:cubicBezTo>
                    <a:pt x="2008235" y="0"/>
                    <a:pt x="2021165" y="5356"/>
                    <a:pt x="2030699" y="14890"/>
                  </a:cubicBezTo>
                  <a:cubicBezTo>
                    <a:pt x="2040233" y="24423"/>
                    <a:pt x="2045589" y="37354"/>
                    <a:pt x="2045589" y="50836"/>
                  </a:cubicBezTo>
                  <a:lnTo>
                    <a:pt x="2045589" y="787939"/>
                  </a:lnTo>
                  <a:cubicBezTo>
                    <a:pt x="2045589" y="801422"/>
                    <a:pt x="2040233" y="814352"/>
                    <a:pt x="2030699" y="823886"/>
                  </a:cubicBezTo>
                  <a:cubicBezTo>
                    <a:pt x="2021165" y="833420"/>
                    <a:pt x="2008235" y="838776"/>
                    <a:pt x="1994752" y="838776"/>
                  </a:cubicBezTo>
                  <a:lnTo>
                    <a:pt x="50836" y="838776"/>
                  </a:lnTo>
                  <a:cubicBezTo>
                    <a:pt x="37354" y="838776"/>
                    <a:pt x="24423" y="833420"/>
                    <a:pt x="14890" y="823886"/>
                  </a:cubicBezTo>
                  <a:cubicBezTo>
                    <a:pt x="5356" y="814352"/>
                    <a:pt x="0" y="801422"/>
                    <a:pt x="0" y="787939"/>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13" id="13"/>
            <p:cNvSpPr txBox="true"/>
            <p:nvPr/>
          </p:nvSpPr>
          <p:spPr>
            <a:xfrm>
              <a:off x="0" y="-38100"/>
              <a:ext cx="2045589" cy="876876"/>
            </a:xfrm>
            <a:prstGeom prst="rect">
              <a:avLst/>
            </a:prstGeom>
          </p:spPr>
          <p:txBody>
            <a:bodyPr anchor="ctr" rtlCol="false" tIns="50800" lIns="50800" bIns="50800" rIns="50800"/>
            <a:lstStyle/>
            <a:p>
              <a:pPr algn="ctr">
                <a:lnSpc>
                  <a:spcPts val="3359"/>
                </a:lnSpc>
              </a:pPr>
            </a:p>
          </p:txBody>
        </p:sp>
      </p:grpSp>
      <p:sp>
        <p:nvSpPr>
          <p:cNvPr name="TextBox 14" id="14"/>
          <p:cNvSpPr txBox="true"/>
          <p:nvPr/>
        </p:nvSpPr>
        <p:spPr>
          <a:xfrm rot="0">
            <a:off x="9924474" y="5526764"/>
            <a:ext cx="7056449" cy="19494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Payroll </a:t>
            </a:r>
            <a:r>
              <a:rPr lang="en-US" sz="2299" spc="25">
                <a:solidFill>
                  <a:srgbClr val="000000"/>
                </a:solidFill>
                <a:latin typeface="Garet Light"/>
                <a:ea typeface="Garet Light"/>
                <a:cs typeface="Garet Light"/>
                <a:sym typeface="Garet Light"/>
              </a:rPr>
              <a:t>administration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Attendance monitoring</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Staff rep</a:t>
            </a:r>
            <a:r>
              <a:rPr lang="en-US" sz="2299" spc="25">
                <a:solidFill>
                  <a:srgbClr val="000000"/>
                </a:solidFill>
                <a:latin typeface="Garet Light"/>
                <a:ea typeface="Garet Light"/>
                <a:cs typeface="Garet Light"/>
                <a:sym typeface="Garet Light"/>
              </a:rPr>
              <a:t>lacement coordination</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HR op</a:t>
            </a:r>
            <a:r>
              <a:rPr lang="en-US" sz="2299" spc="25">
                <a:solidFill>
                  <a:srgbClr val="000000"/>
                </a:solidFill>
                <a:latin typeface="Garet Light"/>
                <a:ea typeface="Garet Light"/>
                <a:cs typeface="Garet Light"/>
                <a:sym typeface="Garet Light"/>
              </a:rPr>
              <a:t>erational support</a:t>
            </a:r>
          </a:p>
        </p:txBody>
      </p:sp>
      <p:sp>
        <p:nvSpPr>
          <p:cNvPr name="TextBox 15" id="15"/>
          <p:cNvSpPr txBox="true"/>
          <p:nvPr/>
        </p:nvSpPr>
        <p:spPr>
          <a:xfrm rot="0">
            <a:off x="9924474" y="4912508"/>
            <a:ext cx="6662530" cy="466725"/>
          </a:xfrm>
          <a:prstGeom prst="rect">
            <a:avLst/>
          </a:prstGeom>
        </p:spPr>
        <p:txBody>
          <a:bodyPr anchor="t" rtlCol="false" tIns="0" lIns="0" bIns="0" rIns="0">
            <a:spAutoFit/>
          </a:bodyPr>
          <a:lstStyle/>
          <a:p>
            <a:pPr algn="l">
              <a:lnSpc>
                <a:spcPts val="4079"/>
              </a:lnSpc>
            </a:pPr>
            <a:r>
              <a:rPr lang="en-US" sz="2399" spc="26" b="true">
                <a:solidFill>
                  <a:srgbClr val="000000"/>
                </a:solidFill>
                <a:latin typeface="Garet Bold"/>
                <a:ea typeface="Garet Bold"/>
                <a:cs typeface="Garet Bold"/>
                <a:sym typeface="Garet Bold"/>
              </a:rPr>
              <a:t>Add</a:t>
            </a:r>
            <a:r>
              <a:rPr lang="en-US" sz="2399" spc="26" b="true">
                <a:solidFill>
                  <a:srgbClr val="000000"/>
                </a:solidFill>
                <a:latin typeface="Garet Bold"/>
                <a:ea typeface="Garet Bold"/>
                <a:cs typeface="Garet Bold"/>
                <a:sym typeface="Garet Bold"/>
              </a:rPr>
              <a:t>itional support:</a:t>
            </a:r>
          </a:p>
        </p:txBody>
      </p:sp>
      <p:grpSp>
        <p:nvGrpSpPr>
          <p:cNvPr name="Group 16" id="16"/>
          <p:cNvGrpSpPr/>
          <p:nvPr/>
        </p:nvGrpSpPr>
        <p:grpSpPr>
          <a:xfrm rot="0">
            <a:off x="844003" y="3368354"/>
            <a:ext cx="7736823" cy="6517095"/>
            <a:chOff x="0" y="0"/>
            <a:chExt cx="2037682" cy="1716437"/>
          </a:xfrm>
        </p:grpSpPr>
        <p:sp>
          <p:nvSpPr>
            <p:cNvPr name="Freeform 17" id="17"/>
            <p:cNvSpPr/>
            <p:nvPr/>
          </p:nvSpPr>
          <p:spPr>
            <a:xfrm flipH="false" flipV="false" rot="0">
              <a:off x="0" y="0"/>
              <a:ext cx="2037682" cy="1716437"/>
            </a:xfrm>
            <a:custGeom>
              <a:avLst/>
              <a:gdLst/>
              <a:ahLst/>
              <a:cxnLst/>
              <a:rect r="r" b="b" t="t" l="l"/>
              <a:pathLst>
                <a:path h="1716437" w="2037682">
                  <a:moveTo>
                    <a:pt x="51034" y="0"/>
                  </a:moveTo>
                  <a:lnTo>
                    <a:pt x="1986648" y="0"/>
                  </a:lnTo>
                  <a:cubicBezTo>
                    <a:pt x="2000183" y="0"/>
                    <a:pt x="2013164" y="5377"/>
                    <a:pt x="2022734" y="14947"/>
                  </a:cubicBezTo>
                  <a:cubicBezTo>
                    <a:pt x="2032305" y="24518"/>
                    <a:pt x="2037682" y="37499"/>
                    <a:pt x="2037682" y="51034"/>
                  </a:cubicBezTo>
                  <a:lnTo>
                    <a:pt x="2037682" y="1665403"/>
                  </a:lnTo>
                  <a:cubicBezTo>
                    <a:pt x="2037682" y="1678938"/>
                    <a:pt x="2032305" y="1691919"/>
                    <a:pt x="2022734" y="1701489"/>
                  </a:cubicBezTo>
                  <a:cubicBezTo>
                    <a:pt x="2013164" y="1711060"/>
                    <a:pt x="2000183" y="1716437"/>
                    <a:pt x="1986648" y="1716437"/>
                  </a:cubicBezTo>
                  <a:lnTo>
                    <a:pt x="51034" y="1716437"/>
                  </a:lnTo>
                  <a:cubicBezTo>
                    <a:pt x="22849" y="1716437"/>
                    <a:pt x="0" y="1693588"/>
                    <a:pt x="0" y="1665403"/>
                  </a:cubicBezTo>
                  <a:lnTo>
                    <a:pt x="0" y="51034"/>
                  </a:lnTo>
                  <a:cubicBezTo>
                    <a:pt x="0" y="37499"/>
                    <a:pt x="5377" y="24518"/>
                    <a:pt x="14947" y="14947"/>
                  </a:cubicBezTo>
                  <a:cubicBezTo>
                    <a:pt x="24518" y="5377"/>
                    <a:pt x="37499" y="0"/>
                    <a:pt x="51034" y="0"/>
                  </a:cubicBezTo>
                  <a:close/>
                </a:path>
              </a:pathLst>
            </a:custGeom>
            <a:solidFill>
              <a:srgbClr val="FFF7D5"/>
            </a:solidFill>
            <a:ln w="66675" cap="rnd">
              <a:solidFill>
                <a:srgbClr val="F1A50E"/>
              </a:solidFill>
              <a:prstDash val="solid"/>
              <a:round/>
            </a:ln>
          </p:spPr>
        </p:sp>
        <p:sp>
          <p:nvSpPr>
            <p:cNvPr name="TextBox 18" id="18"/>
            <p:cNvSpPr txBox="true"/>
            <p:nvPr/>
          </p:nvSpPr>
          <p:spPr>
            <a:xfrm>
              <a:off x="0" y="-38100"/>
              <a:ext cx="2037682" cy="1754537"/>
            </a:xfrm>
            <a:prstGeom prst="rect">
              <a:avLst/>
            </a:prstGeom>
          </p:spPr>
          <p:txBody>
            <a:bodyPr anchor="ctr" rtlCol="false" tIns="50800" lIns="50800" bIns="50800" rIns="50800"/>
            <a:lstStyle/>
            <a:p>
              <a:pPr algn="ctr">
                <a:lnSpc>
                  <a:spcPts val="3359"/>
                </a:lnSpc>
              </a:pPr>
            </a:p>
          </p:txBody>
        </p:sp>
      </p:grpSp>
      <p:sp>
        <p:nvSpPr>
          <p:cNvPr name="TextBox 19" id="19"/>
          <p:cNvSpPr txBox="true"/>
          <p:nvPr/>
        </p:nvSpPr>
        <p:spPr>
          <a:xfrm rot="0">
            <a:off x="1184190" y="4534548"/>
            <a:ext cx="7056449" cy="4921250"/>
          </a:xfrm>
          <a:prstGeom prst="rect">
            <a:avLst/>
          </a:prstGeom>
        </p:spPr>
        <p:txBody>
          <a:bodyPr anchor="t" rtlCol="false" tIns="0" lIns="0" bIns="0" rIns="0">
            <a:spAutoFit/>
          </a:bodyPr>
          <a:lstStyle/>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Administrative staff</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Receptionists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H</a:t>
            </a:r>
            <a:r>
              <a:rPr lang="en-US" sz="2299" spc="25">
                <a:solidFill>
                  <a:srgbClr val="000000"/>
                </a:solidFill>
                <a:latin typeface="Garet Light"/>
                <a:ea typeface="Garet Light"/>
                <a:cs typeface="Garet Light"/>
                <a:sym typeface="Garet Light"/>
              </a:rPr>
              <a:t>ousekeeping st</a:t>
            </a:r>
            <a:r>
              <a:rPr lang="en-US" sz="2299" spc="25">
                <a:solidFill>
                  <a:srgbClr val="000000"/>
                </a:solidFill>
                <a:latin typeface="Garet Light"/>
                <a:ea typeface="Garet Light"/>
                <a:cs typeface="Garet Light"/>
                <a:sym typeface="Garet Light"/>
              </a:rPr>
              <a:t>aff</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M</a:t>
            </a:r>
            <a:r>
              <a:rPr lang="en-US" sz="2299" spc="25">
                <a:solidFill>
                  <a:srgbClr val="000000"/>
                </a:solidFill>
                <a:latin typeface="Garet Light"/>
                <a:ea typeface="Garet Light"/>
                <a:cs typeface="Garet Light"/>
                <a:sym typeface="Garet Light"/>
              </a:rPr>
              <a:t>aintenance personnel</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T</a:t>
            </a:r>
            <a:r>
              <a:rPr lang="en-US" sz="2299" spc="25">
                <a:solidFill>
                  <a:srgbClr val="000000"/>
                </a:solidFill>
                <a:latin typeface="Garet Light"/>
                <a:ea typeface="Garet Light"/>
                <a:cs typeface="Garet Light"/>
                <a:sym typeface="Garet Light"/>
              </a:rPr>
              <a:t>radi</a:t>
            </a:r>
            <a:r>
              <a:rPr lang="en-US" sz="2299" spc="25">
                <a:solidFill>
                  <a:srgbClr val="000000"/>
                </a:solidFill>
                <a:latin typeface="Garet Light"/>
                <a:ea typeface="Garet Light"/>
                <a:cs typeface="Garet Light"/>
                <a:sym typeface="Garet Light"/>
              </a:rPr>
              <a:t>tional coffee and tea makers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Event support staff</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Spa and wellness staff</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Gym and swimm</a:t>
            </a:r>
            <a:r>
              <a:rPr lang="en-US" sz="2299" spc="25">
                <a:solidFill>
                  <a:srgbClr val="000000"/>
                </a:solidFill>
                <a:latin typeface="Garet Light"/>
                <a:ea typeface="Garet Light"/>
                <a:cs typeface="Garet Light"/>
                <a:sym typeface="Garet Light"/>
              </a:rPr>
              <a:t>ing pool attendants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Drivers and logistics assistants</a:t>
            </a:r>
          </a:p>
          <a:p>
            <a:pPr algn="just" marL="496569" indent="-248284" lvl="1">
              <a:lnSpc>
                <a:spcPts val="3909"/>
              </a:lnSpc>
              <a:buFont typeface="Arial"/>
              <a:buChar char="•"/>
            </a:pPr>
            <a:r>
              <a:rPr lang="en-US" sz="2299" spc="25">
                <a:solidFill>
                  <a:srgbClr val="000000"/>
                </a:solidFill>
                <a:latin typeface="Garet Light"/>
                <a:ea typeface="Garet Light"/>
                <a:cs typeface="Garet Light"/>
                <a:sym typeface="Garet Light"/>
              </a:rPr>
              <a:t>Temporary and contract employees</a:t>
            </a:r>
          </a:p>
        </p:txBody>
      </p:sp>
      <p:sp>
        <p:nvSpPr>
          <p:cNvPr name="TextBox 20" id="20"/>
          <p:cNvSpPr txBox="true"/>
          <p:nvPr/>
        </p:nvSpPr>
        <p:spPr>
          <a:xfrm rot="0">
            <a:off x="1102446" y="2765104"/>
            <a:ext cx="7206430" cy="498476"/>
          </a:xfrm>
          <a:prstGeom prst="rect">
            <a:avLst/>
          </a:prstGeom>
        </p:spPr>
        <p:txBody>
          <a:bodyPr anchor="t" rtlCol="false" tIns="0" lIns="0" bIns="0" rIns="0">
            <a:spAutoFit/>
          </a:bodyPr>
          <a:lstStyle/>
          <a:p>
            <a:pPr algn="ctr">
              <a:lnSpc>
                <a:spcPts val="4249"/>
              </a:lnSpc>
            </a:pPr>
            <a:r>
              <a:rPr lang="en-US" b="true" sz="2499" spc="27">
                <a:solidFill>
                  <a:srgbClr val="000000"/>
                </a:solidFill>
                <a:latin typeface="Garet Bold"/>
                <a:ea typeface="Garet Bold"/>
                <a:cs typeface="Garet Bold"/>
                <a:sym typeface="Garet Bold"/>
              </a:rPr>
              <a:t>S</a:t>
            </a:r>
            <a:r>
              <a:rPr lang="en-US" b="true" sz="2499" spc="27">
                <a:solidFill>
                  <a:srgbClr val="000000"/>
                </a:solidFill>
                <a:latin typeface="Garet Bold"/>
                <a:ea typeface="Garet Bold"/>
                <a:cs typeface="Garet Bold"/>
                <a:sym typeface="Garet Bold"/>
              </a:rPr>
              <a:t>taff Recruitment &amp; Outsourcing Services</a:t>
            </a:r>
          </a:p>
        </p:txBody>
      </p:sp>
      <p:sp>
        <p:nvSpPr>
          <p:cNvPr name="TextBox 21" id="21"/>
          <p:cNvSpPr txBox="true"/>
          <p:nvPr/>
        </p:nvSpPr>
        <p:spPr>
          <a:xfrm rot="0">
            <a:off x="1177437" y="3530279"/>
            <a:ext cx="5986020" cy="9588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SINA r</a:t>
            </a:r>
            <a:r>
              <a:rPr lang="en-US" sz="2299" spc="25">
                <a:solidFill>
                  <a:srgbClr val="000000"/>
                </a:solidFill>
                <a:latin typeface="Garet Light"/>
                <a:ea typeface="Garet Light"/>
                <a:cs typeface="Garet Light"/>
                <a:sym typeface="Garet Light"/>
              </a:rPr>
              <a:t>ecruits and manages qualified personnel for:</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1377155" y="2777658"/>
            <a:ext cx="10727222" cy="1674495"/>
          </a:xfrm>
          <a:prstGeom prst="rect">
            <a:avLst/>
          </a:prstGeom>
        </p:spPr>
        <p:txBody>
          <a:bodyPr anchor="t" rtlCol="false" tIns="0" lIns="0" bIns="0" rIns="0">
            <a:spAutoFit/>
          </a:bodyPr>
          <a:lstStyle/>
          <a:p>
            <a:pPr algn="l">
              <a:lnSpc>
                <a:spcPts val="6540"/>
              </a:lnSpc>
            </a:pPr>
            <a:r>
              <a:rPr lang="en-US" sz="6000" b="true">
                <a:solidFill>
                  <a:srgbClr val="F1A50E"/>
                </a:solidFill>
                <a:latin typeface="Garet Bold"/>
                <a:ea typeface="Garet Bold"/>
                <a:cs typeface="Garet Bold"/>
                <a:sym typeface="Garet Bold"/>
              </a:rPr>
              <a:t> ADDITIONAL SUPPORT SERVICES</a:t>
            </a:r>
          </a:p>
        </p:txBody>
      </p:sp>
      <p:sp>
        <p:nvSpPr>
          <p:cNvPr name="Freeform 3" id="3"/>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4" id="4"/>
          <p:cNvGrpSpPr/>
          <p:nvPr/>
        </p:nvGrpSpPr>
        <p:grpSpPr>
          <a:xfrm rot="7918158">
            <a:off x="-136144" y="6856153"/>
            <a:ext cx="2182873" cy="5306652"/>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FDE59"/>
            </a:solidFill>
          </p:spPr>
        </p:sp>
        <p:sp>
          <p:nvSpPr>
            <p:cNvPr name="TextBox 6" id="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7" id="7"/>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8" id="8"/>
          <p:cNvGrpSpPr/>
          <p:nvPr/>
        </p:nvGrpSpPr>
        <p:grpSpPr>
          <a:xfrm rot="7918158">
            <a:off x="-264006" y="8382289"/>
            <a:ext cx="1711172" cy="4159929"/>
            <a:chOff x="0" y="0"/>
            <a:chExt cx="1622238" cy="3943726"/>
          </a:xfrm>
        </p:grpSpPr>
        <p:sp>
          <p:nvSpPr>
            <p:cNvPr name="Freeform 9" id="9"/>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10" id="10"/>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grpSp>
        <p:nvGrpSpPr>
          <p:cNvPr name="Group 11" id="11"/>
          <p:cNvGrpSpPr/>
          <p:nvPr/>
        </p:nvGrpSpPr>
        <p:grpSpPr>
          <a:xfrm rot="0">
            <a:off x="1177437" y="348047"/>
            <a:ext cx="2564062" cy="1957322"/>
            <a:chOff x="0" y="0"/>
            <a:chExt cx="3418750" cy="2609762"/>
          </a:xfrm>
        </p:grpSpPr>
        <p:sp>
          <p:nvSpPr>
            <p:cNvPr name="Freeform 12" id="12"/>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3" id="13"/>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14" id="14"/>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15" id="15"/>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grpSp>
        <p:nvGrpSpPr>
          <p:cNvPr name="Group 16" id="16"/>
          <p:cNvGrpSpPr/>
          <p:nvPr/>
        </p:nvGrpSpPr>
        <p:grpSpPr>
          <a:xfrm rot="0">
            <a:off x="1377155" y="4928403"/>
            <a:ext cx="7766845" cy="799437"/>
            <a:chOff x="0" y="0"/>
            <a:chExt cx="2045589" cy="210551"/>
          </a:xfrm>
        </p:grpSpPr>
        <p:sp>
          <p:nvSpPr>
            <p:cNvPr name="Freeform 17" id="17"/>
            <p:cNvSpPr/>
            <p:nvPr/>
          </p:nvSpPr>
          <p:spPr>
            <a:xfrm flipH="false" flipV="false" rot="0">
              <a:off x="0" y="0"/>
              <a:ext cx="2045589" cy="210551"/>
            </a:xfrm>
            <a:custGeom>
              <a:avLst/>
              <a:gdLst/>
              <a:ahLst/>
              <a:cxnLst/>
              <a:rect r="r" b="b" t="t" l="l"/>
              <a:pathLst>
                <a:path h="210551" w="2045589">
                  <a:moveTo>
                    <a:pt x="50836" y="0"/>
                  </a:moveTo>
                  <a:lnTo>
                    <a:pt x="1994752" y="0"/>
                  </a:lnTo>
                  <a:cubicBezTo>
                    <a:pt x="2008235" y="0"/>
                    <a:pt x="2021165" y="5356"/>
                    <a:pt x="2030699" y="14890"/>
                  </a:cubicBezTo>
                  <a:cubicBezTo>
                    <a:pt x="2040233" y="24423"/>
                    <a:pt x="2045589" y="37354"/>
                    <a:pt x="2045589" y="50836"/>
                  </a:cubicBezTo>
                  <a:lnTo>
                    <a:pt x="2045589" y="159715"/>
                  </a:lnTo>
                  <a:cubicBezTo>
                    <a:pt x="2045589" y="173198"/>
                    <a:pt x="2040233" y="186128"/>
                    <a:pt x="2030699" y="195662"/>
                  </a:cubicBezTo>
                  <a:cubicBezTo>
                    <a:pt x="2021165" y="205195"/>
                    <a:pt x="2008235" y="210551"/>
                    <a:pt x="1994752" y="210551"/>
                  </a:cubicBezTo>
                  <a:lnTo>
                    <a:pt x="50836" y="210551"/>
                  </a:lnTo>
                  <a:cubicBezTo>
                    <a:pt x="37354" y="210551"/>
                    <a:pt x="24423" y="205195"/>
                    <a:pt x="14890" y="195662"/>
                  </a:cubicBezTo>
                  <a:cubicBezTo>
                    <a:pt x="5356" y="186128"/>
                    <a:pt x="0" y="173198"/>
                    <a:pt x="0" y="159715"/>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18" id="18"/>
            <p:cNvSpPr txBox="true"/>
            <p:nvPr/>
          </p:nvSpPr>
          <p:spPr>
            <a:xfrm>
              <a:off x="0" y="-38100"/>
              <a:ext cx="2045589" cy="248651"/>
            </a:xfrm>
            <a:prstGeom prst="rect">
              <a:avLst/>
            </a:prstGeom>
          </p:spPr>
          <p:txBody>
            <a:bodyPr anchor="ctr" rtlCol="false" tIns="50800" lIns="50800" bIns="50800" rIns="50800"/>
            <a:lstStyle/>
            <a:p>
              <a:pPr algn="ctr">
                <a:lnSpc>
                  <a:spcPts val="3359"/>
                </a:lnSpc>
              </a:pPr>
            </a:p>
          </p:txBody>
        </p:sp>
      </p:grpSp>
      <p:sp>
        <p:nvSpPr>
          <p:cNvPr name="TextBox 19" id="19"/>
          <p:cNvSpPr txBox="true"/>
          <p:nvPr/>
        </p:nvSpPr>
        <p:spPr>
          <a:xfrm rot="0">
            <a:off x="1811749" y="5048951"/>
            <a:ext cx="7114842"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U</a:t>
            </a:r>
            <a:r>
              <a:rPr lang="en-US" sz="2299" spc="25">
                <a:solidFill>
                  <a:srgbClr val="000000"/>
                </a:solidFill>
                <a:latin typeface="Garet Light"/>
                <a:ea typeface="Garet Light"/>
                <a:cs typeface="Garet Light"/>
                <a:sym typeface="Garet Light"/>
              </a:rPr>
              <a:t>tility expense payment management</a:t>
            </a:r>
          </a:p>
        </p:txBody>
      </p:sp>
      <p:grpSp>
        <p:nvGrpSpPr>
          <p:cNvPr name="Group 20" id="20"/>
          <p:cNvGrpSpPr/>
          <p:nvPr/>
        </p:nvGrpSpPr>
        <p:grpSpPr>
          <a:xfrm rot="0">
            <a:off x="1377155" y="6260335"/>
            <a:ext cx="7766845" cy="799437"/>
            <a:chOff x="0" y="0"/>
            <a:chExt cx="2045589" cy="210551"/>
          </a:xfrm>
        </p:grpSpPr>
        <p:sp>
          <p:nvSpPr>
            <p:cNvPr name="Freeform 21" id="21"/>
            <p:cNvSpPr/>
            <p:nvPr/>
          </p:nvSpPr>
          <p:spPr>
            <a:xfrm flipH="false" flipV="false" rot="0">
              <a:off x="0" y="0"/>
              <a:ext cx="2045589" cy="210551"/>
            </a:xfrm>
            <a:custGeom>
              <a:avLst/>
              <a:gdLst/>
              <a:ahLst/>
              <a:cxnLst/>
              <a:rect r="r" b="b" t="t" l="l"/>
              <a:pathLst>
                <a:path h="210551" w="2045589">
                  <a:moveTo>
                    <a:pt x="50836" y="0"/>
                  </a:moveTo>
                  <a:lnTo>
                    <a:pt x="1994752" y="0"/>
                  </a:lnTo>
                  <a:cubicBezTo>
                    <a:pt x="2008235" y="0"/>
                    <a:pt x="2021165" y="5356"/>
                    <a:pt x="2030699" y="14890"/>
                  </a:cubicBezTo>
                  <a:cubicBezTo>
                    <a:pt x="2040233" y="24423"/>
                    <a:pt x="2045589" y="37354"/>
                    <a:pt x="2045589" y="50836"/>
                  </a:cubicBezTo>
                  <a:lnTo>
                    <a:pt x="2045589" y="159715"/>
                  </a:lnTo>
                  <a:cubicBezTo>
                    <a:pt x="2045589" y="173198"/>
                    <a:pt x="2040233" y="186128"/>
                    <a:pt x="2030699" y="195662"/>
                  </a:cubicBezTo>
                  <a:cubicBezTo>
                    <a:pt x="2021165" y="205195"/>
                    <a:pt x="2008235" y="210551"/>
                    <a:pt x="1994752" y="210551"/>
                  </a:cubicBezTo>
                  <a:lnTo>
                    <a:pt x="50836" y="210551"/>
                  </a:lnTo>
                  <a:cubicBezTo>
                    <a:pt x="37354" y="210551"/>
                    <a:pt x="24423" y="205195"/>
                    <a:pt x="14890" y="195662"/>
                  </a:cubicBezTo>
                  <a:cubicBezTo>
                    <a:pt x="5356" y="186128"/>
                    <a:pt x="0" y="173198"/>
                    <a:pt x="0" y="159715"/>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22" id="22"/>
            <p:cNvSpPr txBox="true"/>
            <p:nvPr/>
          </p:nvSpPr>
          <p:spPr>
            <a:xfrm>
              <a:off x="0" y="-38100"/>
              <a:ext cx="2045589" cy="248651"/>
            </a:xfrm>
            <a:prstGeom prst="rect">
              <a:avLst/>
            </a:prstGeom>
          </p:spPr>
          <p:txBody>
            <a:bodyPr anchor="ctr" rtlCol="false" tIns="50800" lIns="50800" bIns="50800" rIns="50800"/>
            <a:lstStyle/>
            <a:p>
              <a:pPr algn="ctr">
                <a:lnSpc>
                  <a:spcPts val="3359"/>
                </a:lnSpc>
              </a:pPr>
            </a:p>
          </p:txBody>
        </p:sp>
      </p:grpSp>
      <p:sp>
        <p:nvSpPr>
          <p:cNvPr name="TextBox 23" id="23"/>
          <p:cNvSpPr txBox="true"/>
          <p:nvPr/>
        </p:nvSpPr>
        <p:spPr>
          <a:xfrm rot="0">
            <a:off x="1811749" y="6380883"/>
            <a:ext cx="7114842"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Corpora</a:t>
            </a:r>
            <a:r>
              <a:rPr lang="en-US" sz="2299" spc="25">
                <a:solidFill>
                  <a:srgbClr val="000000"/>
                </a:solidFill>
                <a:latin typeface="Garet Light"/>
                <a:ea typeface="Garet Light"/>
                <a:cs typeface="Garet Light"/>
                <a:sym typeface="Garet Light"/>
              </a:rPr>
              <a:t>te hospitality coordination</a:t>
            </a:r>
          </a:p>
        </p:txBody>
      </p:sp>
      <p:grpSp>
        <p:nvGrpSpPr>
          <p:cNvPr name="Group 24" id="24"/>
          <p:cNvGrpSpPr/>
          <p:nvPr/>
        </p:nvGrpSpPr>
        <p:grpSpPr>
          <a:xfrm rot="0">
            <a:off x="1377155" y="7592268"/>
            <a:ext cx="7766845" cy="799437"/>
            <a:chOff x="0" y="0"/>
            <a:chExt cx="2045589" cy="210551"/>
          </a:xfrm>
        </p:grpSpPr>
        <p:sp>
          <p:nvSpPr>
            <p:cNvPr name="Freeform 25" id="25"/>
            <p:cNvSpPr/>
            <p:nvPr/>
          </p:nvSpPr>
          <p:spPr>
            <a:xfrm flipH="false" flipV="false" rot="0">
              <a:off x="0" y="0"/>
              <a:ext cx="2045589" cy="210551"/>
            </a:xfrm>
            <a:custGeom>
              <a:avLst/>
              <a:gdLst/>
              <a:ahLst/>
              <a:cxnLst/>
              <a:rect r="r" b="b" t="t" l="l"/>
              <a:pathLst>
                <a:path h="210551" w="2045589">
                  <a:moveTo>
                    <a:pt x="50836" y="0"/>
                  </a:moveTo>
                  <a:lnTo>
                    <a:pt x="1994752" y="0"/>
                  </a:lnTo>
                  <a:cubicBezTo>
                    <a:pt x="2008235" y="0"/>
                    <a:pt x="2021165" y="5356"/>
                    <a:pt x="2030699" y="14890"/>
                  </a:cubicBezTo>
                  <a:cubicBezTo>
                    <a:pt x="2040233" y="24423"/>
                    <a:pt x="2045589" y="37354"/>
                    <a:pt x="2045589" y="50836"/>
                  </a:cubicBezTo>
                  <a:lnTo>
                    <a:pt x="2045589" y="159715"/>
                  </a:lnTo>
                  <a:cubicBezTo>
                    <a:pt x="2045589" y="173198"/>
                    <a:pt x="2040233" y="186128"/>
                    <a:pt x="2030699" y="195662"/>
                  </a:cubicBezTo>
                  <a:cubicBezTo>
                    <a:pt x="2021165" y="205195"/>
                    <a:pt x="2008235" y="210551"/>
                    <a:pt x="1994752" y="210551"/>
                  </a:cubicBezTo>
                  <a:lnTo>
                    <a:pt x="50836" y="210551"/>
                  </a:lnTo>
                  <a:cubicBezTo>
                    <a:pt x="37354" y="210551"/>
                    <a:pt x="24423" y="205195"/>
                    <a:pt x="14890" y="195662"/>
                  </a:cubicBezTo>
                  <a:cubicBezTo>
                    <a:pt x="5356" y="186128"/>
                    <a:pt x="0" y="173198"/>
                    <a:pt x="0" y="159715"/>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26" id="26"/>
            <p:cNvSpPr txBox="true"/>
            <p:nvPr/>
          </p:nvSpPr>
          <p:spPr>
            <a:xfrm>
              <a:off x="0" y="-38100"/>
              <a:ext cx="2045589" cy="248651"/>
            </a:xfrm>
            <a:prstGeom prst="rect">
              <a:avLst/>
            </a:prstGeom>
          </p:spPr>
          <p:txBody>
            <a:bodyPr anchor="ctr" rtlCol="false" tIns="50800" lIns="50800" bIns="50800" rIns="50800"/>
            <a:lstStyle/>
            <a:p>
              <a:pPr algn="ctr">
                <a:lnSpc>
                  <a:spcPts val="3359"/>
                </a:lnSpc>
              </a:pPr>
            </a:p>
          </p:txBody>
        </p:sp>
      </p:grpSp>
      <p:sp>
        <p:nvSpPr>
          <p:cNvPr name="TextBox 27" id="27"/>
          <p:cNvSpPr txBox="true"/>
          <p:nvPr/>
        </p:nvSpPr>
        <p:spPr>
          <a:xfrm rot="0">
            <a:off x="1811749" y="7712816"/>
            <a:ext cx="7114842"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Vendor</a:t>
            </a:r>
            <a:r>
              <a:rPr lang="en-US" sz="2299" spc="25">
                <a:solidFill>
                  <a:srgbClr val="000000"/>
                </a:solidFill>
                <a:latin typeface="Garet Light"/>
                <a:ea typeface="Garet Light"/>
                <a:cs typeface="Garet Light"/>
                <a:sym typeface="Garet Light"/>
              </a:rPr>
              <a:t> and supplier negotiation</a:t>
            </a:r>
          </a:p>
        </p:txBody>
      </p:sp>
      <p:grpSp>
        <p:nvGrpSpPr>
          <p:cNvPr name="Group 28" id="28"/>
          <p:cNvGrpSpPr/>
          <p:nvPr/>
        </p:nvGrpSpPr>
        <p:grpSpPr>
          <a:xfrm rot="0">
            <a:off x="9728049" y="4928403"/>
            <a:ext cx="7766845" cy="799437"/>
            <a:chOff x="0" y="0"/>
            <a:chExt cx="2045589" cy="210551"/>
          </a:xfrm>
        </p:grpSpPr>
        <p:sp>
          <p:nvSpPr>
            <p:cNvPr name="Freeform 29" id="29"/>
            <p:cNvSpPr/>
            <p:nvPr/>
          </p:nvSpPr>
          <p:spPr>
            <a:xfrm flipH="false" flipV="false" rot="0">
              <a:off x="0" y="0"/>
              <a:ext cx="2045589" cy="210551"/>
            </a:xfrm>
            <a:custGeom>
              <a:avLst/>
              <a:gdLst/>
              <a:ahLst/>
              <a:cxnLst/>
              <a:rect r="r" b="b" t="t" l="l"/>
              <a:pathLst>
                <a:path h="210551" w="2045589">
                  <a:moveTo>
                    <a:pt x="50836" y="0"/>
                  </a:moveTo>
                  <a:lnTo>
                    <a:pt x="1994752" y="0"/>
                  </a:lnTo>
                  <a:cubicBezTo>
                    <a:pt x="2008235" y="0"/>
                    <a:pt x="2021165" y="5356"/>
                    <a:pt x="2030699" y="14890"/>
                  </a:cubicBezTo>
                  <a:cubicBezTo>
                    <a:pt x="2040233" y="24423"/>
                    <a:pt x="2045589" y="37354"/>
                    <a:pt x="2045589" y="50836"/>
                  </a:cubicBezTo>
                  <a:lnTo>
                    <a:pt x="2045589" y="159715"/>
                  </a:lnTo>
                  <a:cubicBezTo>
                    <a:pt x="2045589" y="173198"/>
                    <a:pt x="2040233" y="186128"/>
                    <a:pt x="2030699" y="195662"/>
                  </a:cubicBezTo>
                  <a:cubicBezTo>
                    <a:pt x="2021165" y="205195"/>
                    <a:pt x="2008235" y="210551"/>
                    <a:pt x="1994752" y="210551"/>
                  </a:cubicBezTo>
                  <a:lnTo>
                    <a:pt x="50836" y="210551"/>
                  </a:lnTo>
                  <a:cubicBezTo>
                    <a:pt x="37354" y="210551"/>
                    <a:pt x="24423" y="205195"/>
                    <a:pt x="14890" y="195662"/>
                  </a:cubicBezTo>
                  <a:cubicBezTo>
                    <a:pt x="5356" y="186128"/>
                    <a:pt x="0" y="173198"/>
                    <a:pt x="0" y="159715"/>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30" id="30"/>
            <p:cNvSpPr txBox="true"/>
            <p:nvPr/>
          </p:nvSpPr>
          <p:spPr>
            <a:xfrm>
              <a:off x="0" y="-38100"/>
              <a:ext cx="2045589" cy="248651"/>
            </a:xfrm>
            <a:prstGeom prst="rect">
              <a:avLst/>
            </a:prstGeom>
          </p:spPr>
          <p:txBody>
            <a:bodyPr anchor="ctr" rtlCol="false" tIns="50800" lIns="50800" bIns="50800" rIns="50800"/>
            <a:lstStyle/>
            <a:p>
              <a:pPr algn="ctr">
                <a:lnSpc>
                  <a:spcPts val="3359"/>
                </a:lnSpc>
              </a:pPr>
            </a:p>
          </p:txBody>
        </p:sp>
      </p:grpSp>
      <p:sp>
        <p:nvSpPr>
          <p:cNvPr name="TextBox 31" id="31"/>
          <p:cNvSpPr txBox="true"/>
          <p:nvPr/>
        </p:nvSpPr>
        <p:spPr>
          <a:xfrm rot="0">
            <a:off x="10162642" y="5048951"/>
            <a:ext cx="7114842"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Gu</a:t>
            </a:r>
            <a:r>
              <a:rPr lang="en-US" sz="2299" spc="25">
                <a:solidFill>
                  <a:srgbClr val="000000"/>
                </a:solidFill>
                <a:latin typeface="Garet Light"/>
                <a:ea typeface="Garet Light"/>
                <a:cs typeface="Garet Light"/>
                <a:sym typeface="Garet Light"/>
              </a:rPr>
              <a:t>est meal arrangements</a:t>
            </a:r>
          </a:p>
        </p:txBody>
      </p:sp>
      <p:grpSp>
        <p:nvGrpSpPr>
          <p:cNvPr name="Group 32" id="32"/>
          <p:cNvGrpSpPr/>
          <p:nvPr/>
        </p:nvGrpSpPr>
        <p:grpSpPr>
          <a:xfrm rot="0">
            <a:off x="9728049" y="6260335"/>
            <a:ext cx="7766845" cy="799437"/>
            <a:chOff x="0" y="0"/>
            <a:chExt cx="2045589" cy="210551"/>
          </a:xfrm>
        </p:grpSpPr>
        <p:sp>
          <p:nvSpPr>
            <p:cNvPr name="Freeform 33" id="33"/>
            <p:cNvSpPr/>
            <p:nvPr/>
          </p:nvSpPr>
          <p:spPr>
            <a:xfrm flipH="false" flipV="false" rot="0">
              <a:off x="0" y="0"/>
              <a:ext cx="2045589" cy="210551"/>
            </a:xfrm>
            <a:custGeom>
              <a:avLst/>
              <a:gdLst/>
              <a:ahLst/>
              <a:cxnLst/>
              <a:rect r="r" b="b" t="t" l="l"/>
              <a:pathLst>
                <a:path h="210551" w="2045589">
                  <a:moveTo>
                    <a:pt x="50836" y="0"/>
                  </a:moveTo>
                  <a:lnTo>
                    <a:pt x="1994752" y="0"/>
                  </a:lnTo>
                  <a:cubicBezTo>
                    <a:pt x="2008235" y="0"/>
                    <a:pt x="2021165" y="5356"/>
                    <a:pt x="2030699" y="14890"/>
                  </a:cubicBezTo>
                  <a:cubicBezTo>
                    <a:pt x="2040233" y="24423"/>
                    <a:pt x="2045589" y="37354"/>
                    <a:pt x="2045589" y="50836"/>
                  </a:cubicBezTo>
                  <a:lnTo>
                    <a:pt x="2045589" y="159715"/>
                  </a:lnTo>
                  <a:cubicBezTo>
                    <a:pt x="2045589" y="173198"/>
                    <a:pt x="2040233" y="186128"/>
                    <a:pt x="2030699" y="195662"/>
                  </a:cubicBezTo>
                  <a:cubicBezTo>
                    <a:pt x="2021165" y="205195"/>
                    <a:pt x="2008235" y="210551"/>
                    <a:pt x="1994752" y="210551"/>
                  </a:cubicBezTo>
                  <a:lnTo>
                    <a:pt x="50836" y="210551"/>
                  </a:lnTo>
                  <a:cubicBezTo>
                    <a:pt x="37354" y="210551"/>
                    <a:pt x="24423" y="205195"/>
                    <a:pt x="14890" y="195662"/>
                  </a:cubicBezTo>
                  <a:cubicBezTo>
                    <a:pt x="5356" y="186128"/>
                    <a:pt x="0" y="173198"/>
                    <a:pt x="0" y="159715"/>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34" id="34"/>
            <p:cNvSpPr txBox="true"/>
            <p:nvPr/>
          </p:nvSpPr>
          <p:spPr>
            <a:xfrm>
              <a:off x="0" y="-38100"/>
              <a:ext cx="2045589" cy="248651"/>
            </a:xfrm>
            <a:prstGeom prst="rect">
              <a:avLst/>
            </a:prstGeom>
          </p:spPr>
          <p:txBody>
            <a:bodyPr anchor="ctr" rtlCol="false" tIns="50800" lIns="50800" bIns="50800" rIns="50800"/>
            <a:lstStyle/>
            <a:p>
              <a:pPr algn="ctr">
                <a:lnSpc>
                  <a:spcPts val="3359"/>
                </a:lnSpc>
              </a:pPr>
            </a:p>
          </p:txBody>
        </p:sp>
      </p:grpSp>
      <p:sp>
        <p:nvSpPr>
          <p:cNvPr name="TextBox 35" id="35"/>
          <p:cNvSpPr txBox="true"/>
          <p:nvPr/>
        </p:nvSpPr>
        <p:spPr>
          <a:xfrm rot="0">
            <a:off x="10162642" y="6380883"/>
            <a:ext cx="7114842"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Off</a:t>
            </a:r>
            <a:r>
              <a:rPr lang="en-US" sz="2299" spc="25">
                <a:solidFill>
                  <a:srgbClr val="000000"/>
                </a:solidFill>
                <a:latin typeface="Garet Light"/>
                <a:ea typeface="Garet Light"/>
                <a:cs typeface="Garet Light"/>
                <a:sym typeface="Garet Light"/>
              </a:rPr>
              <a:t>ice operational support</a:t>
            </a:r>
          </a:p>
        </p:txBody>
      </p:sp>
      <p:grpSp>
        <p:nvGrpSpPr>
          <p:cNvPr name="Group 36" id="36"/>
          <p:cNvGrpSpPr/>
          <p:nvPr/>
        </p:nvGrpSpPr>
        <p:grpSpPr>
          <a:xfrm rot="0">
            <a:off x="9728049" y="7592268"/>
            <a:ext cx="7766845" cy="799437"/>
            <a:chOff x="0" y="0"/>
            <a:chExt cx="2045589" cy="210551"/>
          </a:xfrm>
        </p:grpSpPr>
        <p:sp>
          <p:nvSpPr>
            <p:cNvPr name="Freeform 37" id="37"/>
            <p:cNvSpPr/>
            <p:nvPr/>
          </p:nvSpPr>
          <p:spPr>
            <a:xfrm flipH="false" flipV="false" rot="0">
              <a:off x="0" y="0"/>
              <a:ext cx="2045589" cy="210551"/>
            </a:xfrm>
            <a:custGeom>
              <a:avLst/>
              <a:gdLst/>
              <a:ahLst/>
              <a:cxnLst/>
              <a:rect r="r" b="b" t="t" l="l"/>
              <a:pathLst>
                <a:path h="210551" w="2045589">
                  <a:moveTo>
                    <a:pt x="50836" y="0"/>
                  </a:moveTo>
                  <a:lnTo>
                    <a:pt x="1994752" y="0"/>
                  </a:lnTo>
                  <a:cubicBezTo>
                    <a:pt x="2008235" y="0"/>
                    <a:pt x="2021165" y="5356"/>
                    <a:pt x="2030699" y="14890"/>
                  </a:cubicBezTo>
                  <a:cubicBezTo>
                    <a:pt x="2040233" y="24423"/>
                    <a:pt x="2045589" y="37354"/>
                    <a:pt x="2045589" y="50836"/>
                  </a:cubicBezTo>
                  <a:lnTo>
                    <a:pt x="2045589" y="159715"/>
                  </a:lnTo>
                  <a:cubicBezTo>
                    <a:pt x="2045589" y="173198"/>
                    <a:pt x="2040233" y="186128"/>
                    <a:pt x="2030699" y="195662"/>
                  </a:cubicBezTo>
                  <a:cubicBezTo>
                    <a:pt x="2021165" y="205195"/>
                    <a:pt x="2008235" y="210551"/>
                    <a:pt x="1994752" y="210551"/>
                  </a:cubicBezTo>
                  <a:lnTo>
                    <a:pt x="50836" y="210551"/>
                  </a:lnTo>
                  <a:cubicBezTo>
                    <a:pt x="37354" y="210551"/>
                    <a:pt x="24423" y="205195"/>
                    <a:pt x="14890" y="195662"/>
                  </a:cubicBezTo>
                  <a:cubicBezTo>
                    <a:pt x="5356" y="186128"/>
                    <a:pt x="0" y="173198"/>
                    <a:pt x="0" y="159715"/>
                  </a:cubicBezTo>
                  <a:lnTo>
                    <a:pt x="0" y="50836"/>
                  </a:lnTo>
                  <a:cubicBezTo>
                    <a:pt x="0" y="37354"/>
                    <a:pt x="5356" y="24423"/>
                    <a:pt x="14890" y="14890"/>
                  </a:cubicBezTo>
                  <a:cubicBezTo>
                    <a:pt x="24423" y="5356"/>
                    <a:pt x="37354" y="0"/>
                    <a:pt x="50836" y="0"/>
                  </a:cubicBezTo>
                  <a:close/>
                </a:path>
              </a:pathLst>
            </a:custGeom>
            <a:solidFill>
              <a:srgbClr val="FFF7D5"/>
            </a:solidFill>
            <a:ln w="66675" cap="rnd">
              <a:solidFill>
                <a:srgbClr val="F1A50E"/>
              </a:solidFill>
              <a:prstDash val="solid"/>
              <a:round/>
            </a:ln>
          </p:spPr>
        </p:sp>
        <p:sp>
          <p:nvSpPr>
            <p:cNvPr name="TextBox 38" id="38"/>
            <p:cNvSpPr txBox="true"/>
            <p:nvPr/>
          </p:nvSpPr>
          <p:spPr>
            <a:xfrm>
              <a:off x="0" y="-38100"/>
              <a:ext cx="2045589" cy="248651"/>
            </a:xfrm>
            <a:prstGeom prst="rect">
              <a:avLst/>
            </a:prstGeom>
          </p:spPr>
          <p:txBody>
            <a:bodyPr anchor="ctr" rtlCol="false" tIns="50800" lIns="50800" bIns="50800" rIns="50800"/>
            <a:lstStyle/>
            <a:p>
              <a:pPr algn="ctr">
                <a:lnSpc>
                  <a:spcPts val="3359"/>
                </a:lnSpc>
              </a:pPr>
            </a:p>
          </p:txBody>
        </p:sp>
      </p:grpSp>
      <p:sp>
        <p:nvSpPr>
          <p:cNvPr name="TextBox 39" id="39"/>
          <p:cNvSpPr txBox="true"/>
          <p:nvPr/>
        </p:nvSpPr>
        <p:spPr>
          <a:xfrm rot="0">
            <a:off x="10162642" y="7712816"/>
            <a:ext cx="7114842"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Mon</a:t>
            </a:r>
            <a:r>
              <a:rPr lang="en-US" sz="2299" spc="25">
                <a:solidFill>
                  <a:srgbClr val="000000"/>
                </a:solidFill>
                <a:latin typeface="Garet Light"/>
                <a:ea typeface="Garet Light"/>
                <a:cs typeface="Garet Light"/>
                <a:sym typeface="Garet Light"/>
              </a:rPr>
              <a:t>thly operational reporting</a:t>
            </a:r>
          </a:p>
        </p:txBody>
      </p:sp>
      <p:grpSp>
        <p:nvGrpSpPr>
          <p:cNvPr name="Group 40" id="40"/>
          <p:cNvGrpSpPr/>
          <p:nvPr/>
        </p:nvGrpSpPr>
        <p:grpSpPr>
          <a:xfrm rot="8100000">
            <a:off x="15335559" y="-4054225"/>
            <a:ext cx="2301442" cy="11815284"/>
            <a:chOff x="0" y="0"/>
            <a:chExt cx="606141" cy="3111844"/>
          </a:xfrm>
        </p:grpSpPr>
        <p:sp>
          <p:nvSpPr>
            <p:cNvPr name="Freeform 41" id="41"/>
            <p:cNvSpPr/>
            <p:nvPr/>
          </p:nvSpPr>
          <p:spPr>
            <a:xfrm flipH="false" flipV="false" rot="0">
              <a:off x="0" y="0"/>
              <a:ext cx="606141" cy="3111844"/>
            </a:xfrm>
            <a:custGeom>
              <a:avLst/>
              <a:gdLst/>
              <a:ahLst/>
              <a:cxnLst/>
              <a:rect r="r" b="b" t="t" l="l"/>
              <a:pathLst>
                <a:path h="3111844" w="606141">
                  <a:moveTo>
                    <a:pt x="203200" y="0"/>
                  </a:moveTo>
                  <a:lnTo>
                    <a:pt x="606141" y="0"/>
                  </a:lnTo>
                  <a:lnTo>
                    <a:pt x="402941" y="3111844"/>
                  </a:lnTo>
                  <a:lnTo>
                    <a:pt x="0" y="3111844"/>
                  </a:lnTo>
                  <a:lnTo>
                    <a:pt x="203200" y="0"/>
                  </a:lnTo>
                  <a:close/>
                </a:path>
              </a:pathLst>
            </a:custGeom>
            <a:solidFill>
              <a:srgbClr val="F1A50E"/>
            </a:solidFill>
          </p:spPr>
        </p:sp>
        <p:sp>
          <p:nvSpPr>
            <p:cNvPr name="TextBox 42" id="42"/>
            <p:cNvSpPr txBox="true"/>
            <p:nvPr/>
          </p:nvSpPr>
          <p:spPr>
            <a:xfrm>
              <a:off x="101600" y="-38100"/>
              <a:ext cx="402941" cy="3149944"/>
            </a:xfrm>
            <a:prstGeom prst="rect">
              <a:avLst/>
            </a:prstGeom>
          </p:spPr>
          <p:txBody>
            <a:bodyPr anchor="ctr" rtlCol="false" tIns="50800" lIns="50800" bIns="50800" rIns="50800"/>
            <a:lstStyle/>
            <a:p>
              <a:pPr algn="ctr">
                <a:lnSpc>
                  <a:spcPts val="3359"/>
                </a:lnSpc>
              </a:pPr>
            </a:p>
          </p:txBody>
        </p:sp>
      </p:grpSp>
      <p:grpSp>
        <p:nvGrpSpPr>
          <p:cNvPr name="Group 43" id="43"/>
          <p:cNvGrpSpPr/>
          <p:nvPr/>
        </p:nvGrpSpPr>
        <p:grpSpPr>
          <a:xfrm rot="-2587936">
            <a:off x="16461884" y="-3544565"/>
            <a:ext cx="2829994" cy="10172185"/>
            <a:chOff x="0" y="0"/>
            <a:chExt cx="1097180" cy="3943726"/>
          </a:xfrm>
        </p:grpSpPr>
        <p:sp>
          <p:nvSpPr>
            <p:cNvPr name="Freeform 44" id="44"/>
            <p:cNvSpPr/>
            <p:nvPr/>
          </p:nvSpPr>
          <p:spPr>
            <a:xfrm flipH="false" flipV="false" rot="0">
              <a:off x="0" y="0"/>
              <a:ext cx="1097180" cy="3943726"/>
            </a:xfrm>
            <a:custGeom>
              <a:avLst/>
              <a:gdLst/>
              <a:ahLst/>
              <a:cxnLst/>
              <a:rect r="r" b="b" t="t" l="l"/>
              <a:pathLst>
                <a:path h="3943726" w="1097180">
                  <a:moveTo>
                    <a:pt x="203200" y="0"/>
                  </a:moveTo>
                  <a:lnTo>
                    <a:pt x="1097180" y="0"/>
                  </a:lnTo>
                  <a:lnTo>
                    <a:pt x="893980" y="3943726"/>
                  </a:lnTo>
                  <a:lnTo>
                    <a:pt x="0" y="3943726"/>
                  </a:lnTo>
                  <a:lnTo>
                    <a:pt x="203200" y="0"/>
                  </a:lnTo>
                  <a:close/>
                </a:path>
              </a:pathLst>
            </a:custGeom>
            <a:solidFill>
              <a:srgbClr val="FFDE59"/>
            </a:solidFill>
          </p:spPr>
        </p:sp>
        <p:sp>
          <p:nvSpPr>
            <p:cNvPr name="TextBox 45" id="45"/>
            <p:cNvSpPr txBox="true"/>
            <p:nvPr/>
          </p:nvSpPr>
          <p:spPr>
            <a:xfrm>
              <a:off x="101600" y="-38100"/>
              <a:ext cx="893980" cy="3981826"/>
            </a:xfrm>
            <a:prstGeom prst="rect">
              <a:avLst/>
            </a:prstGeom>
          </p:spPr>
          <p:txBody>
            <a:bodyPr anchor="ctr" rtlCol="false" tIns="50800" lIns="50800" bIns="50800" rIns="50800"/>
            <a:lstStyle/>
            <a:p>
              <a:pPr algn="ctr">
                <a:lnSpc>
                  <a:spcPts val="3359"/>
                </a:lnSpc>
              </a:pPr>
            </a:p>
          </p:txBody>
        </p:sp>
      </p:grpSp>
      <p:grpSp>
        <p:nvGrpSpPr>
          <p:cNvPr name="Group 46" id="46"/>
          <p:cNvGrpSpPr/>
          <p:nvPr/>
        </p:nvGrpSpPr>
        <p:grpSpPr>
          <a:xfrm rot="-2587936">
            <a:off x="16593258" y="-3742691"/>
            <a:ext cx="3280102" cy="7974061"/>
            <a:chOff x="0" y="0"/>
            <a:chExt cx="1622238" cy="3943726"/>
          </a:xfrm>
        </p:grpSpPr>
        <p:sp>
          <p:nvSpPr>
            <p:cNvPr name="Freeform 47" id="4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48" id="48"/>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518158">
            <a:off x="18365382" y="671351"/>
            <a:ext cx="5136624" cy="14973834"/>
            <a:chOff x="0" y="0"/>
            <a:chExt cx="1352856" cy="3943726"/>
          </a:xfrm>
        </p:grpSpPr>
        <p:sp>
          <p:nvSpPr>
            <p:cNvPr name="Freeform 3" id="3"/>
            <p:cNvSpPr/>
            <p:nvPr/>
          </p:nvSpPr>
          <p:spPr>
            <a:xfrm flipH="false" flipV="false" rot="0">
              <a:off x="0" y="0"/>
              <a:ext cx="1352856" cy="3943726"/>
            </a:xfrm>
            <a:custGeom>
              <a:avLst/>
              <a:gdLst/>
              <a:ahLst/>
              <a:cxnLst/>
              <a:rect r="r" b="b" t="t" l="l"/>
              <a:pathLst>
                <a:path h="3943726" w="1352856">
                  <a:moveTo>
                    <a:pt x="203200" y="0"/>
                  </a:moveTo>
                  <a:lnTo>
                    <a:pt x="1352856" y="0"/>
                  </a:lnTo>
                  <a:lnTo>
                    <a:pt x="1149656" y="3943726"/>
                  </a:lnTo>
                  <a:lnTo>
                    <a:pt x="0" y="3943726"/>
                  </a:lnTo>
                  <a:lnTo>
                    <a:pt x="203200" y="0"/>
                  </a:lnTo>
                  <a:close/>
                </a:path>
              </a:pathLst>
            </a:custGeom>
            <a:solidFill>
              <a:srgbClr val="F1A50E"/>
            </a:solidFill>
          </p:spPr>
        </p:sp>
        <p:sp>
          <p:nvSpPr>
            <p:cNvPr name="TextBox 4" id="4"/>
            <p:cNvSpPr txBox="true"/>
            <p:nvPr/>
          </p:nvSpPr>
          <p:spPr>
            <a:xfrm>
              <a:off x="101600" y="-38100"/>
              <a:ext cx="1149656" cy="3981826"/>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2518158">
            <a:off x="17924120" y="4384264"/>
            <a:ext cx="3733240" cy="10172185"/>
            <a:chOff x="0" y="0"/>
            <a:chExt cx="1447366" cy="3943726"/>
          </a:xfrm>
        </p:grpSpPr>
        <p:sp>
          <p:nvSpPr>
            <p:cNvPr name="Freeform 6" id="6"/>
            <p:cNvSpPr/>
            <p:nvPr/>
          </p:nvSpPr>
          <p:spPr>
            <a:xfrm flipH="false" flipV="false" rot="0">
              <a:off x="0" y="0"/>
              <a:ext cx="1447366" cy="3943726"/>
            </a:xfrm>
            <a:custGeom>
              <a:avLst/>
              <a:gdLst/>
              <a:ahLst/>
              <a:cxnLst/>
              <a:rect r="r" b="b" t="t" l="l"/>
              <a:pathLst>
                <a:path h="3943726" w="1447366">
                  <a:moveTo>
                    <a:pt x="203200" y="0"/>
                  </a:moveTo>
                  <a:lnTo>
                    <a:pt x="1447366" y="0"/>
                  </a:lnTo>
                  <a:lnTo>
                    <a:pt x="1244166" y="3943726"/>
                  </a:lnTo>
                  <a:lnTo>
                    <a:pt x="0" y="3943726"/>
                  </a:lnTo>
                  <a:lnTo>
                    <a:pt x="203200" y="0"/>
                  </a:lnTo>
                  <a:close/>
                </a:path>
              </a:pathLst>
            </a:custGeom>
            <a:solidFill>
              <a:srgbClr val="FFDE59"/>
            </a:solidFill>
          </p:spPr>
        </p:sp>
        <p:sp>
          <p:nvSpPr>
            <p:cNvPr name="TextBox 7" id="7"/>
            <p:cNvSpPr txBox="true"/>
            <p:nvPr/>
          </p:nvSpPr>
          <p:spPr>
            <a:xfrm>
              <a:off x="101600" y="-38100"/>
              <a:ext cx="1244166" cy="3981826"/>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2700000">
            <a:off x="15450932" y="8025141"/>
            <a:ext cx="7350486" cy="1200452"/>
          </a:xfrm>
          <a:custGeom>
            <a:avLst/>
            <a:gdLst/>
            <a:ahLst/>
            <a:cxnLst/>
            <a:rect r="r" b="b" t="t" l="l"/>
            <a:pathLst>
              <a:path h="1200452" w="7350486">
                <a:moveTo>
                  <a:pt x="0" y="0"/>
                </a:moveTo>
                <a:lnTo>
                  <a:pt x="7350486" y="0"/>
                </a:lnTo>
                <a:lnTo>
                  <a:pt x="7350486" y="1200453"/>
                </a:lnTo>
                <a:lnTo>
                  <a:pt x="0" y="1200453"/>
                </a:lnTo>
                <a:lnTo>
                  <a:pt x="0" y="0"/>
                </a:lnTo>
                <a:close/>
              </a:path>
            </a:pathLst>
          </a:custGeom>
          <a:blipFill>
            <a:blip r:embed="rId2">
              <a:alphaModFix amt="27000"/>
            </a:blip>
            <a:stretch>
              <a:fillRect l="0" t="-4950" r="-2830" b="-4950"/>
            </a:stretch>
          </a:blipFill>
        </p:spPr>
      </p:sp>
      <p:grpSp>
        <p:nvGrpSpPr>
          <p:cNvPr name="Group 9" id="9"/>
          <p:cNvGrpSpPr/>
          <p:nvPr/>
        </p:nvGrpSpPr>
        <p:grpSpPr>
          <a:xfrm rot="2518158">
            <a:off x="19394628" y="4673466"/>
            <a:ext cx="3280102" cy="7974061"/>
            <a:chOff x="0" y="0"/>
            <a:chExt cx="1622238" cy="3943726"/>
          </a:xfrm>
        </p:grpSpPr>
        <p:sp>
          <p:nvSpPr>
            <p:cNvPr name="Freeform 10" id="10"/>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11" id="11"/>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1177437" y="348047"/>
            <a:ext cx="2564062" cy="1957322"/>
            <a:chOff x="0" y="0"/>
            <a:chExt cx="3418750" cy="2609762"/>
          </a:xfrm>
        </p:grpSpPr>
        <p:sp>
          <p:nvSpPr>
            <p:cNvPr name="Freeform 13" id="13"/>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15" id="15"/>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16" id="16"/>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sp>
        <p:nvSpPr>
          <p:cNvPr name="TextBox 17" id="17"/>
          <p:cNvSpPr txBox="true"/>
          <p:nvPr/>
        </p:nvSpPr>
        <p:spPr>
          <a:xfrm rot="0">
            <a:off x="6647308" y="1162050"/>
            <a:ext cx="7370095" cy="1508760"/>
          </a:xfrm>
          <a:prstGeom prst="rect">
            <a:avLst/>
          </a:prstGeom>
        </p:spPr>
        <p:txBody>
          <a:bodyPr anchor="t" rtlCol="false" tIns="0" lIns="0" bIns="0" rIns="0">
            <a:spAutoFit/>
          </a:bodyPr>
          <a:lstStyle/>
          <a:p>
            <a:pPr algn="l">
              <a:lnSpc>
                <a:spcPts val="5820"/>
              </a:lnSpc>
            </a:pPr>
            <a:r>
              <a:rPr lang="en-US" b="true" sz="6000" spc="282">
                <a:solidFill>
                  <a:srgbClr val="F1A50E"/>
                </a:solidFill>
                <a:latin typeface="Garet Bold"/>
                <a:ea typeface="Garet Bold"/>
                <a:cs typeface="Garet Bold"/>
                <a:sym typeface="Garet Bold"/>
              </a:rPr>
              <a:t>OUR WORKING METHODOL</a:t>
            </a:r>
            <a:r>
              <a:rPr lang="en-US" b="true" sz="6000" spc="282">
                <a:solidFill>
                  <a:srgbClr val="F1A50E"/>
                </a:solidFill>
                <a:latin typeface="Garet Bold"/>
                <a:ea typeface="Garet Bold"/>
                <a:cs typeface="Garet Bold"/>
                <a:sym typeface="Garet Bold"/>
              </a:rPr>
              <a:t>OGY</a:t>
            </a:r>
          </a:p>
        </p:txBody>
      </p:sp>
      <p:sp>
        <p:nvSpPr>
          <p:cNvPr name="TextBox 18" id="18"/>
          <p:cNvSpPr txBox="true"/>
          <p:nvPr/>
        </p:nvSpPr>
        <p:spPr>
          <a:xfrm rot="0">
            <a:off x="4513701" y="3017419"/>
            <a:ext cx="1517794"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P</a:t>
            </a:r>
            <a:r>
              <a:rPr lang="en-US" b="true" sz="2299" spc="25">
                <a:solidFill>
                  <a:srgbClr val="000000"/>
                </a:solidFill>
                <a:latin typeface="Garet Bold"/>
                <a:ea typeface="Garet Bold"/>
                <a:cs typeface="Garet Bold"/>
                <a:sym typeface="Garet Bold"/>
              </a:rPr>
              <a:t>lanning:</a:t>
            </a:r>
          </a:p>
        </p:txBody>
      </p:sp>
      <p:grpSp>
        <p:nvGrpSpPr>
          <p:cNvPr name="Group 19" id="19"/>
          <p:cNvGrpSpPr/>
          <p:nvPr/>
        </p:nvGrpSpPr>
        <p:grpSpPr>
          <a:xfrm rot="0">
            <a:off x="1775831" y="2906626"/>
            <a:ext cx="2374943" cy="799437"/>
            <a:chOff x="0" y="0"/>
            <a:chExt cx="625499" cy="210551"/>
          </a:xfrm>
        </p:grpSpPr>
        <p:sp>
          <p:nvSpPr>
            <p:cNvPr name="Freeform 20" id="20"/>
            <p:cNvSpPr/>
            <p:nvPr/>
          </p:nvSpPr>
          <p:spPr>
            <a:xfrm flipH="false" flipV="false" rot="0">
              <a:off x="0" y="0"/>
              <a:ext cx="625499" cy="210551"/>
            </a:xfrm>
            <a:custGeom>
              <a:avLst/>
              <a:gdLst/>
              <a:ahLst/>
              <a:cxnLst/>
              <a:rect r="r" b="b" t="t" l="l"/>
              <a:pathLst>
                <a:path h="210551" w="625499">
                  <a:moveTo>
                    <a:pt x="105276" y="0"/>
                  </a:moveTo>
                  <a:lnTo>
                    <a:pt x="520224" y="0"/>
                  </a:lnTo>
                  <a:cubicBezTo>
                    <a:pt x="548144" y="0"/>
                    <a:pt x="574922" y="11092"/>
                    <a:pt x="594665" y="30835"/>
                  </a:cubicBezTo>
                  <a:cubicBezTo>
                    <a:pt x="614408" y="50578"/>
                    <a:pt x="625499" y="77355"/>
                    <a:pt x="625499" y="105276"/>
                  </a:cubicBezTo>
                  <a:lnTo>
                    <a:pt x="625499" y="105276"/>
                  </a:lnTo>
                  <a:cubicBezTo>
                    <a:pt x="625499" y="163418"/>
                    <a:pt x="578366" y="210551"/>
                    <a:pt x="520224" y="210551"/>
                  </a:cubicBezTo>
                  <a:lnTo>
                    <a:pt x="105276" y="210551"/>
                  </a:lnTo>
                  <a:cubicBezTo>
                    <a:pt x="47134" y="210551"/>
                    <a:pt x="0" y="163418"/>
                    <a:pt x="0" y="105276"/>
                  </a:cubicBezTo>
                  <a:lnTo>
                    <a:pt x="0" y="105276"/>
                  </a:lnTo>
                  <a:cubicBezTo>
                    <a:pt x="0" y="47134"/>
                    <a:pt x="47134" y="0"/>
                    <a:pt x="105276" y="0"/>
                  </a:cubicBezTo>
                  <a:close/>
                </a:path>
              </a:pathLst>
            </a:custGeom>
            <a:solidFill>
              <a:srgbClr val="FFF7D5"/>
            </a:solidFill>
            <a:ln w="66675" cap="rnd">
              <a:solidFill>
                <a:srgbClr val="F1A50E"/>
              </a:solidFill>
              <a:prstDash val="solid"/>
              <a:round/>
            </a:ln>
          </p:spPr>
        </p:sp>
        <p:sp>
          <p:nvSpPr>
            <p:cNvPr name="TextBox 21" id="21"/>
            <p:cNvSpPr txBox="true"/>
            <p:nvPr/>
          </p:nvSpPr>
          <p:spPr>
            <a:xfrm>
              <a:off x="0" y="-38100"/>
              <a:ext cx="625499" cy="248651"/>
            </a:xfrm>
            <a:prstGeom prst="rect">
              <a:avLst/>
            </a:prstGeom>
          </p:spPr>
          <p:txBody>
            <a:bodyPr anchor="ctr" rtlCol="false" tIns="50800" lIns="50800" bIns="50800" rIns="50800"/>
            <a:lstStyle/>
            <a:p>
              <a:pPr algn="ctr">
                <a:lnSpc>
                  <a:spcPts val="3359"/>
                </a:lnSpc>
              </a:pPr>
            </a:p>
          </p:txBody>
        </p:sp>
      </p:grpSp>
      <p:sp>
        <p:nvSpPr>
          <p:cNvPr name="TextBox 22" id="22"/>
          <p:cNvSpPr txBox="true"/>
          <p:nvPr/>
        </p:nvSpPr>
        <p:spPr>
          <a:xfrm rot="0">
            <a:off x="1998428" y="3017419"/>
            <a:ext cx="1929750"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Pha</a:t>
            </a:r>
            <a:r>
              <a:rPr lang="en-US" sz="2299" spc="25">
                <a:solidFill>
                  <a:srgbClr val="000000"/>
                </a:solidFill>
                <a:latin typeface="Garet Light"/>
                <a:ea typeface="Garet Light"/>
                <a:cs typeface="Garet Light"/>
                <a:sym typeface="Garet Light"/>
              </a:rPr>
              <a:t>se 1</a:t>
            </a:r>
          </a:p>
        </p:txBody>
      </p:sp>
      <p:sp>
        <p:nvSpPr>
          <p:cNvPr name="TextBox 23" id="23"/>
          <p:cNvSpPr txBox="true"/>
          <p:nvPr/>
        </p:nvSpPr>
        <p:spPr>
          <a:xfrm rot="0">
            <a:off x="6122338" y="3017419"/>
            <a:ext cx="8081861"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Review c</a:t>
            </a:r>
            <a:r>
              <a:rPr lang="en-US" sz="2299" spc="25">
                <a:solidFill>
                  <a:srgbClr val="000000"/>
                </a:solidFill>
                <a:latin typeface="Garet Light"/>
                <a:ea typeface="Garet Light"/>
                <a:cs typeface="Garet Light"/>
                <a:sym typeface="Garet Light"/>
              </a:rPr>
              <a:t>lient requirements and schedules</a:t>
            </a:r>
          </a:p>
        </p:txBody>
      </p:sp>
      <p:sp>
        <p:nvSpPr>
          <p:cNvPr name="TextBox 24" id="24"/>
          <p:cNvSpPr txBox="true"/>
          <p:nvPr/>
        </p:nvSpPr>
        <p:spPr>
          <a:xfrm rot="0">
            <a:off x="4513701" y="4274056"/>
            <a:ext cx="1517794"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Sourc</a:t>
            </a:r>
            <a:r>
              <a:rPr lang="en-US" b="true" sz="2299" spc="25">
                <a:solidFill>
                  <a:srgbClr val="000000"/>
                </a:solidFill>
                <a:latin typeface="Garet Bold"/>
                <a:ea typeface="Garet Bold"/>
                <a:cs typeface="Garet Bold"/>
                <a:sym typeface="Garet Bold"/>
              </a:rPr>
              <a:t>ing:</a:t>
            </a:r>
          </a:p>
        </p:txBody>
      </p:sp>
      <p:grpSp>
        <p:nvGrpSpPr>
          <p:cNvPr name="Group 25" id="25"/>
          <p:cNvGrpSpPr/>
          <p:nvPr/>
        </p:nvGrpSpPr>
        <p:grpSpPr>
          <a:xfrm rot="0">
            <a:off x="1775831" y="4163263"/>
            <a:ext cx="2374943" cy="799437"/>
            <a:chOff x="0" y="0"/>
            <a:chExt cx="625499" cy="210551"/>
          </a:xfrm>
        </p:grpSpPr>
        <p:sp>
          <p:nvSpPr>
            <p:cNvPr name="Freeform 26" id="26"/>
            <p:cNvSpPr/>
            <p:nvPr/>
          </p:nvSpPr>
          <p:spPr>
            <a:xfrm flipH="false" flipV="false" rot="0">
              <a:off x="0" y="0"/>
              <a:ext cx="625499" cy="210551"/>
            </a:xfrm>
            <a:custGeom>
              <a:avLst/>
              <a:gdLst/>
              <a:ahLst/>
              <a:cxnLst/>
              <a:rect r="r" b="b" t="t" l="l"/>
              <a:pathLst>
                <a:path h="210551" w="625499">
                  <a:moveTo>
                    <a:pt x="105276" y="0"/>
                  </a:moveTo>
                  <a:lnTo>
                    <a:pt x="520224" y="0"/>
                  </a:lnTo>
                  <a:cubicBezTo>
                    <a:pt x="548144" y="0"/>
                    <a:pt x="574922" y="11092"/>
                    <a:pt x="594665" y="30835"/>
                  </a:cubicBezTo>
                  <a:cubicBezTo>
                    <a:pt x="614408" y="50578"/>
                    <a:pt x="625499" y="77355"/>
                    <a:pt x="625499" y="105276"/>
                  </a:cubicBezTo>
                  <a:lnTo>
                    <a:pt x="625499" y="105276"/>
                  </a:lnTo>
                  <a:cubicBezTo>
                    <a:pt x="625499" y="163418"/>
                    <a:pt x="578366" y="210551"/>
                    <a:pt x="520224" y="210551"/>
                  </a:cubicBezTo>
                  <a:lnTo>
                    <a:pt x="105276" y="210551"/>
                  </a:lnTo>
                  <a:cubicBezTo>
                    <a:pt x="47134" y="210551"/>
                    <a:pt x="0" y="163418"/>
                    <a:pt x="0" y="105276"/>
                  </a:cubicBezTo>
                  <a:lnTo>
                    <a:pt x="0" y="105276"/>
                  </a:lnTo>
                  <a:cubicBezTo>
                    <a:pt x="0" y="47134"/>
                    <a:pt x="47134" y="0"/>
                    <a:pt x="105276" y="0"/>
                  </a:cubicBezTo>
                  <a:close/>
                </a:path>
              </a:pathLst>
            </a:custGeom>
            <a:solidFill>
              <a:srgbClr val="FFF7D5"/>
            </a:solidFill>
            <a:ln w="66675" cap="rnd">
              <a:solidFill>
                <a:srgbClr val="F1A50E"/>
              </a:solidFill>
              <a:prstDash val="solid"/>
              <a:round/>
            </a:ln>
          </p:spPr>
        </p:sp>
        <p:sp>
          <p:nvSpPr>
            <p:cNvPr name="TextBox 27" id="27"/>
            <p:cNvSpPr txBox="true"/>
            <p:nvPr/>
          </p:nvSpPr>
          <p:spPr>
            <a:xfrm>
              <a:off x="0" y="-38100"/>
              <a:ext cx="625499" cy="248651"/>
            </a:xfrm>
            <a:prstGeom prst="rect">
              <a:avLst/>
            </a:prstGeom>
          </p:spPr>
          <p:txBody>
            <a:bodyPr anchor="ctr" rtlCol="false" tIns="50800" lIns="50800" bIns="50800" rIns="50800"/>
            <a:lstStyle/>
            <a:p>
              <a:pPr algn="ctr">
                <a:lnSpc>
                  <a:spcPts val="3359"/>
                </a:lnSpc>
              </a:pPr>
            </a:p>
          </p:txBody>
        </p:sp>
      </p:grpSp>
      <p:sp>
        <p:nvSpPr>
          <p:cNvPr name="TextBox 28" id="28"/>
          <p:cNvSpPr txBox="true"/>
          <p:nvPr/>
        </p:nvSpPr>
        <p:spPr>
          <a:xfrm rot="0">
            <a:off x="1998428" y="4274056"/>
            <a:ext cx="1929750"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Pha</a:t>
            </a:r>
            <a:r>
              <a:rPr lang="en-US" sz="2299" spc="25">
                <a:solidFill>
                  <a:srgbClr val="000000"/>
                </a:solidFill>
                <a:latin typeface="Garet Light"/>
                <a:ea typeface="Garet Light"/>
                <a:cs typeface="Garet Light"/>
                <a:sym typeface="Garet Light"/>
              </a:rPr>
              <a:t>se 2</a:t>
            </a:r>
          </a:p>
        </p:txBody>
      </p:sp>
      <p:sp>
        <p:nvSpPr>
          <p:cNvPr name="TextBox 29" id="29"/>
          <p:cNvSpPr txBox="true"/>
          <p:nvPr/>
        </p:nvSpPr>
        <p:spPr>
          <a:xfrm rot="0">
            <a:off x="6131863" y="4274056"/>
            <a:ext cx="8081861"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Identify qua</a:t>
            </a:r>
            <a:r>
              <a:rPr lang="en-US" sz="2299" spc="25">
                <a:solidFill>
                  <a:srgbClr val="000000"/>
                </a:solidFill>
                <a:latin typeface="Garet Light"/>
                <a:ea typeface="Garet Light"/>
                <a:cs typeface="Garet Light"/>
                <a:sym typeface="Garet Light"/>
              </a:rPr>
              <a:t>lified suppliers and service providers</a:t>
            </a:r>
          </a:p>
        </p:txBody>
      </p:sp>
      <p:sp>
        <p:nvSpPr>
          <p:cNvPr name="TextBox 30" id="30"/>
          <p:cNvSpPr txBox="true"/>
          <p:nvPr/>
        </p:nvSpPr>
        <p:spPr>
          <a:xfrm rot="0">
            <a:off x="4513701" y="5530694"/>
            <a:ext cx="1786007"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Execut</a:t>
            </a:r>
            <a:r>
              <a:rPr lang="en-US" b="true" sz="2299" spc="25">
                <a:solidFill>
                  <a:srgbClr val="000000"/>
                </a:solidFill>
                <a:latin typeface="Garet Bold"/>
                <a:ea typeface="Garet Bold"/>
                <a:cs typeface="Garet Bold"/>
                <a:sym typeface="Garet Bold"/>
              </a:rPr>
              <a:t>ion:</a:t>
            </a:r>
          </a:p>
        </p:txBody>
      </p:sp>
      <p:grpSp>
        <p:nvGrpSpPr>
          <p:cNvPr name="Group 31" id="31"/>
          <p:cNvGrpSpPr/>
          <p:nvPr/>
        </p:nvGrpSpPr>
        <p:grpSpPr>
          <a:xfrm rot="0">
            <a:off x="1775831" y="5419900"/>
            <a:ext cx="2374943" cy="799437"/>
            <a:chOff x="0" y="0"/>
            <a:chExt cx="625499" cy="210551"/>
          </a:xfrm>
        </p:grpSpPr>
        <p:sp>
          <p:nvSpPr>
            <p:cNvPr name="Freeform 32" id="32"/>
            <p:cNvSpPr/>
            <p:nvPr/>
          </p:nvSpPr>
          <p:spPr>
            <a:xfrm flipH="false" flipV="false" rot="0">
              <a:off x="0" y="0"/>
              <a:ext cx="625499" cy="210551"/>
            </a:xfrm>
            <a:custGeom>
              <a:avLst/>
              <a:gdLst/>
              <a:ahLst/>
              <a:cxnLst/>
              <a:rect r="r" b="b" t="t" l="l"/>
              <a:pathLst>
                <a:path h="210551" w="625499">
                  <a:moveTo>
                    <a:pt x="105276" y="0"/>
                  </a:moveTo>
                  <a:lnTo>
                    <a:pt x="520224" y="0"/>
                  </a:lnTo>
                  <a:cubicBezTo>
                    <a:pt x="548144" y="0"/>
                    <a:pt x="574922" y="11092"/>
                    <a:pt x="594665" y="30835"/>
                  </a:cubicBezTo>
                  <a:cubicBezTo>
                    <a:pt x="614408" y="50578"/>
                    <a:pt x="625499" y="77355"/>
                    <a:pt x="625499" y="105276"/>
                  </a:cubicBezTo>
                  <a:lnTo>
                    <a:pt x="625499" y="105276"/>
                  </a:lnTo>
                  <a:cubicBezTo>
                    <a:pt x="625499" y="163418"/>
                    <a:pt x="578366" y="210551"/>
                    <a:pt x="520224" y="210551"/>
                  </a:cubicBezTo>
                  <a:lnTo>
                    <a:pt x="105276" y="210551"/>
                  </a:lnTo>
                  <a:cubicBezTo>
                    <a:pt x="47134" y="210551"/>
                    <a:pt x="0" y="163418"/>
                    <a:pt x="0" y="105276"/>
                  </a:cubicBezTo>
                  <a:lnTo>
                    <a:pt x="0" y="105276"/>
                  </a:lnTo>
                  <a:cubicBezTo>
                    <a:pt x="0" y="47134"/>
                    <a:pt x="47134" y="0"/>
                    <a:pt x="105276" y="0"/>
                  </a:cubicBezTo>
                  <a:close/>
                </a:path>
              </a:pathLst>
            </a:custGeom>
            <a:solidFill>
              <a:srgbClr val="FFF7D5"/>
            </a:solidFill>
            <a:ln w="66675" cap="rnd">
              <a:solidFill>
                <a:srgbClr val="F1A50E"/>
              </a:solidFill>
              <a:prstDash val="solid"/>
              <a:round/>
            </a:ln>
          </p:spPr>
        </p:sp>
        <p:sp>
          <p:nvSpPr>
            <p:cNvPr name="TextBox 33" id="33"/>
            <p:cNvSpPr txBox="true"/>
            <p:nvPr/>
          </p:nvSpPr>
          <p:spPr>
            <a:xfrm>
              <a:off x="0" y="-38100"/>
              <a:ext cx="625499" cy="248651"/>
            </a:xfrm>
            <a:prstGeom prst="rect">
              <a:avLst/>
            </a:prstGeom>
          </p:spPr>
          <p:txBody>
            <a:bodyPr anchor="ctr" rtlCol="false" tIns="50800" lIns="50800" bIns="50800" rIns="50800"/>
            <a:lstStyle/>
            <a:p>
              <a:pPr algn="ctr">
                <a:lnSpc>
                  <a:spcPts val="3359"/>
                </a:lnSpc>
              </a:pPr>
            </a:p>
          </p:txBody>
        </p:sp>
      </p:grpSp>
      <p:sp>
        <p:nvSpPr>
          <p:cNvPr name="TextBox 34" id="34"/>
          <p:cNvSpPr txBox="true"/>
          <p:nvPr/>
        </p:nvSpPr>
        <p:spPr>
          <a:xfrm rot="0">
            <a:off x="1998428" y="5530694"/>
            <a:ext cx="1929750"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Pha</a:t>
            </a:r>
            <a:r>
              <a:rPr lang="en-US" sz="2299" spc="25">
                <a:solidFill>
                  <a:srgbClr val="000000"/>
                </a:solidFill>
                <a:latin typeface="Garet Light"/>
                <a:ea typeface="Garet Light"/>
                <a:cs typeface="Garet Light"/>
                <a:sym typeface="Garet Light"/>
              </a:rPr>
              <a:t>se 3</a:t>
            </a:r>
          </a:p>
        </p:txBody>
      </p:sp>
      <p:sp>
        <p:nvSpPr>
          <p:cNvPr name="TextBox 35" id="35"/>
          <p:cNvSpPr txBox="true"/>
          <p:nvPr/>
        </p:nvSpPr>
        <p:spPr>
          <a:xfrm rot="0">
            <a:off x="6299708" y="5530694"/>
            <a:ext cx="8081861"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Procure, organ</a:t>
            </a:r>
            <a:r>
              <a:rPr lang="en-US" sz="2299" spc="25">
                <a:solidFill>
                  <a:srgbClr val="000000"/>
                </a:solidFill>
                <a:latin typeface="Garet Light"/>
                <a:ea typeface="Garet Light"/>
                <a:cs typeface="Garet Light"/>
                <a:sym typeface="Garet Light"/>
              </a:rPr>
              <a:t>ize, recruit, and coordinate services</a:t>
            </a:r>
          </a:p>
        </p:txBody>
      </p:sp>
      <p:sp>
        <p:nvSpPr>
          <p:cNvPr name="TextBox 36" id="36"/>
          <p:cNvSpPr txBox="true"/>
          <p:nvPr/>
        </p:nvSpPr>
        <p:spPr>
          <a:xfrm rot="0">
            <a:off x="4513701" y="6787331"/>
            <a:ext cx="3705816"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De</a:t>
            </a:r>
            <a:r>
              <a:rPr lang="en-US" b="true" sz="2299" spc="25">
                <a:solidFill>
                  <a:srgbClr val="000000"/>
                </a:solidFill>
                <a:latin typeface="Garet Bold"/>
                <a:ea typeface="Garet Bold"/>
                <a:cs typeface="Garet Bold"/>
                <a:sym typeface="Garet Bold"/>
              </a:rPr>
              <a:t>livery &amp; Deployment:</a:t>
            </a:r>
          </a:p>
        </p:txBody>
      </p:sp>
      <p:grpSp>
        <p:nvGrpSpPr>
          <p:cNvPr name="Group 37" id="37"/>
          <p:cNvGrpSpPr/>
          <p:nvPr/>
        </p:nvGrpSpPr>
        <p:grpSpPr>
          <a:xfrm rot="0">
            <a:off x="1775831" y="6676537"/>
            <a:ext cx="2374943" cy="799437"/>
            <a:chOff x="0" y="0"/>
            <a:chExt cx="625499" cy="210551"/>
          </a:xfrm>
        </p:grpSpPr>
        <p:sp>
          <p:nvSpPr>
            <p:cNvPr name="Freeform 38" id="38"/>
            <p:cNvSpPr/>
            <p:nvPr/>
          </p:nvSpPr>
          <p:spPr>
            <a:xfrm flipH="false" flipV="false" rot="0">
              <a:off x="0" y="0"/>
              <a:ext cx="625499" cy="210551"/>
            </a:xfrm>
            <a:custGeom>
              <a:avLst/>
              <a:gdLst/>
              <a:ahLst/>
              <a:cxnLst/>
              <a:rect r="r" b="b" t="t" l="l"/>
              <a:pathLst>
                <a:path h="210551" w="625499">
                  <a:moveTo>
                    <a:pt x="105276" y="0"/>
                  </a:moveTo>
                  <a:lnTo>
                    <a:pt x="520224" y="0"/>
                  </a:lnTo>
                  <a:cubicBezTo>
                    <a:pt x="548144" y="0"/>
                    <a:pt x="574922" y="11092"/>
                    <a:pt x="594665" y="30835"/>
                  </a:cubicBezTo>
                  <a:cubicBezTo>
                    <a:pt x="614408" y="50578"/>
                    <a:pt x="625499" y="77355"/>
                    <a:pt x="625499" y="105276"/>
                  </a:cubicBezTo>
                  <a:lnTo>
                    <a:pt x="625499" y="105276"/>
                  </a:lnTo>
                  <a:cubicBezTo>
                    <a:pt x="625499" y="163418"/>
                    <a:pt x="578366" y="210551"/>
                    <a:pt x="520224" y="210551"/>
                  </a:cubicBezTo>
                  <a:lnTo>
                    <a:pt x="105276" y="210551"/>
                  </a:lnTo>
                  <a:cubicBezTo>
                    <a:pt x="47134" y="210551"/>
                    <a:pt x="0" y="163418"/>
                    <a:pt x="0" y="105276"/>
                  </a:cubicBezTo>
                  <a:lnTo>
                    <a:pt x="0" y="105276"/>
                  </a:lnTo>
                  <a:cubicBezTo>
                    <a:pt x="0" y="47134"/>
                    <a:pt x="47134" y="0"/>
                    <a:pt x="105276" y="0"/>
                  </a:cubicBezTo>
                  <a:close/>
                </a:path>
              </a:pathLst>
            </a:custGeom>
            <a:solidFill>
              <a:srgbClr val="FFF7D5"/>
            </a:solidFill>
            <a:ln w="66675" cap="rnd">
              <a:solidFill>
                <a:srgbClr val="F1A50E"/>
              </a:solidFill>
              <a:prstDash val="solid"/>
              <a:round/>
            </a:ln>
          </p:spPr>
        </p:sp>
        <p:sp>
          <p:nvSpPr>
            <p:cNvPr name="TextBox 39" id="39"/>
            <p:cNvSpPr txBox="true"/>
            <p:nvPr/>
          </p:nvSpPr>
          <p:spPr>
            <a:xfrm>
              <a:off x="0" y="-38100"/>
              <a:ext cx="625499" cy="248651"/>
            </a:xfrm>
            <a:prstGeom prst="rect">
              <a:avLst/>
            </a:prstGeom>
          </p:spPr>
          <p:txBody>
            <a:bodyPr anchor="ctr" rtlCol="false" tIns="50800" lIns="50800" bIns="50800" rIns="50800"/>
            <a:lstStyle/>
            <a:p>
              <a:pPr algn="ctr">
                <a:lnSpc>
                  <a:spcPts val="3359"/>
                </a:lnSpc>
              </a:pPr>
            </a:p>
          </p:txBody>
        </p:sp>
      </p:grpSp>
      <p:sp>
        <p:nvSpPr>
          <p:cNvPr name="TextBox 40" id="40"/>
          <p:cNvSpPr txBox="true"/>
          <p:nvPr/>
        </p:nvSpPr>
        <p:spPr>
          <a:xfrm rot="0">
            <a:off x="1998428" y="6787331"/>
            <a:ext cx="1929750"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Pha</a:t>
            </a:r>
            <a:r>
              <a:rPr lang="en-US" sz="2299" spc="25">
                <a:solidFill>
                  <a:srgbClr val="000000"/>
                </a:solidFill>
                <a:latin typeface="Garet Light"/>
                <a:ea typeface="Garet Light"/>
                <a:cs typeface="Garet Light"/>
                <a:sym typeface="Garet Light"/>
              </a:rPr>
              <a:t>se 4</a:t>
            </a:r>
          </a:p>
        </p:txBody>
      </p:sp>
      <p:sp>
        <p:nvSpPr>
          <p:cNvPr name="TextBox 41" id="41"/>
          <p:cNvSpPr txBox="true"/>
          <p:nvPr/>
        </p:nvSpPr>
        <p:spPr>
          <a:xfrm rot="0">
            <a:off x="8297001" y="6787331"/>
            <a:ext cx="8081861"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Ensure timely de</a:t>
            </a:r>
            <a:r>
              <a:rPr lang="en-US" sz="2299" spc="25">
                <a:solidFill>
                  <a:srgbClr val="000000"/>
                </a:solidFill>
                <a:latin typeface="Garet Light"/>
                <a:ea typeface="Garet Light"/>
                <a:cs typeface="Garet Light"/>
                <a:sym typeface="Garet Light"/>
              </a:rPr>
              <a:t>livery and service implementation</a:t>
            </a:r>
          </a:p>
        </p:txBody>
      </p:sp>
      <p:sp>
        <p:nvSpPr>
          <p:cNvPr name="TextBox 42" id="42"/>
          <p:cNvSpPr txBox="true"/>
          <p:nvPr/>
        </p:nvSpPr>
        <p:spPr>
          <a:xfrm rot="0">
            <a:off x="4513701" y="8043968"/>
            <a:ext cx="3783301"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Mon</a:t>
            </a:r>
            <a:r>
              <a:rPr lang="en-US" b="true" sz="2299" spc="25">
                <a:solidFill>
                  <a:srgbClr val="000000"/>
                </a:solidFill>
                <a:latin typeface="Garet Bold"/>
                <a:ea typeface="Garet Bold"/>
                <a:cs typeface="Garet Bold"/>
                <a:sym typeface="Garet Bold"/>
              </a:rPr>
              <a:t>itoring &amp; Reporting:</a:t>
            </a:r>
          </a:p>
        </p:txBody>
      </p:sp>
      <p:grpSp>
        <p:nvGrpSpPr>
          <p:cNvPr name="Group 43" id="43"/>
          <p:cNvGrpSpPr/>
          <p:nvPr/>
        </p:nvGrpSpPr>
        <p:grpSpPr>
          <a:xfrm rot="0">
            <a:off x="1775831" y="7933174"/>
            <a:ext cx="2374943" cy="799437"/>
            <a:chOff x="0" y="0"/>
            <a:chExt cx="625499" cy="210551"/>
          </a:xfrm>
        </p:grpSpPr>
        <p:sp>
          <p:nvSpPr>
            <p:cNvPr name="Freeform 44" id="44"/>
            <p:cNvSpPr/>
            <p:nvPr/>
          </p:nvSpPr>
          <p:spPr>
            <a:xfrm flipH="false" flipV="false" rot="0">
              <a:off x="0" y="0"/>
              <a:ext cx="625499" cy="210551"/>
            </a:xfrm>
            <a:custGeom>
              <a:avLst/>
              <a:gdLst/>
              <a:ahLst/>
              <a:cxnLst/>
              <a:rect r="r" b="b" t="t" l="l"/>
              <a:pathLst>
                <a:path h="210551" w="625499">
                  <a:moveTo>
                    <a:pt x="105276" y="0"/>
                  </a:moveTo>
                  <a:lnTo>
                    <a:pt x="520224" y="0"/>
                  </a:lnTo>
                  <a:cubicBezTo>
                    <a:pt x="548144" y="0"/>
                    <a:pt x="574922" y="11092"/>
                    <a:pt x="594665" y="30835"/>
                  </a:cubicBezTo>
                  <a:cubicBezTo>
                    <a:pt x="614408" y="50578"/>
                    <a:pt x="625499" y="77355"/>
                    <a:pt x="625499" y="105276"/>
                  </a:cubicBezTo>
                  <a:lnTo>
                    <a:pt x="625499" y="105276"/>
                  </a:lnTo>
                  <a:cubicBezTo>
                    <a:pt x="625499" y="163418"/>
                    <a:pt x="578366" y="210551"/>
                    <a:pt x="520224" y="210551"/>
                  </a:cubicBezTo>
                  <a:lnTo>
                    <a:pt x="105276" y="210551"/>
                  </a:lnTo>
                  <a:cubicBezTo>
                    <a:pt x="47134" y="210551"/>
                    <a:pt x="0" y="163418"/>
                    <a:pt x="0" y="105276"/>
                  </a:cubicBezTo>
                  <a:lnTo>
                    <a:pt x="0" y="105276"/>
                  </a:lnTo>
                  <a:cubicBezTo>
                    <a:pt x="0" y="47134"/>
                    <a:pt x="47134" y="0"/>
                    <a:pt x="105276" y="0"/>
                  </a:cubicBezTo>
                  <a:close/>
                </a:path>
              </a:pathLst>
            </a:custGeom>
            <a:solidFill>
              <a:srgbClr val="FFF7D5"/>
            </a:solidFill>
            <a:ln w="66675" cap="rnd">
              <a:solidFill>
                <a:srgbClr val="F1A50E"/>
              </a:solidFill>
              <a:prstDash val="solid"/>
              <a:round/>
            </a:ln>
          </p:spPr>
        </p:sp>
        <p:sp>
          <p:nvSpPr>
            <p:cNvPr name="TextBox 45" id="45"/>
            <p:cNvSpPr txBox="true"/>
            <p:nvPr/>
          </p:nvSpPr>
          <p:spPr>
            <a:xfrm>
              <a:off x="0" y="-38100"/>
              <a:ext cx="625499" cy="248651"/>
            </a:xfrm>
            <a:prstGeom prst="rect">
              <a:avLst/>
            </a:prstGeom>
          </p:spPr>
          <p:txBody>
            <a:bodyPr anchor="ctr" rtlCol="false" tIns="50800" lIns="50800" bIns="50800" rIns="50800"/>
            <a:lstStyle/>
            <a:p>
              <a:pPr algn="ctr">
                <a:lnSpc>
                  <a:spcPts val="3359"/>
                </a:lnSpc>
              </a:pPr>
            </a:p>
          </p:txBody>
        </p:sp>
      </p:grpSp>
      <p:sp>
        <p:nvSpPr>
          <p:cNvPr name="TextBox 46" id="46"/>
          <p:cNvSpPr txBox="true"/>
          <p:nvPr/>
        </p:nvSpPr>
        <p:spPr>
          <a:xfrm rot="0">
            <a:off x="1998428" y="8043968"/>
            <a:ext cx="1929750" cy="463550"/>
          </a:xfrm>
          <a:prstGeom prst="rect">
            <a:avLst/>
          </a:prstGeom>
        </p:spPr>
        <p:txBody>
          <a:bodyPr anchor="t" rtlCol="false" tIns="0" lIns="0" bIns="0" rIns="0">
            <a:spAutoFit/>
          </a:bodyPr>
          <a:lstStyle/>
          <a:p>
            <a:pPr algn="ctr">
              <a:lnSpc>
                <a:spcPts val="3909"/>
              </a:lnSpc>
            </a:pPr>
            <a:r>
              <a:rPr lang="en-US" sz="2299" spc="25">
                <a:solidFill>
                  <a:srgbClr val="000000"/>
                </a:solidFill>
                <a:latin typeface="Garet Light"/>
                <a:ea typeface="Garet Light"/>
                <a:cs typeface="Garet Light"/>
                <a:sym typeface="Garet Light"/>
              </a:rPr>
              <a:t>Pha</a:t>
            </a:r>
            <a:r>
              <a:rPr lang="en-US" sz="2299" spc="25">
                <a:solidFill>
                  <a:srgbClr val="000000"/>
                </a:solidFill>
                <a:latin typeface="Garet Light"/>
                <a:ea typeface="Garet Light"/>
                <a:cs typeface="Garet Light"/>
                <a:sym typeface="Garet Light"/>
              </a:rPr>
              <a:t>se 4</a:t>
            </a:r>
          </a:p>
        </p:txBody>
      </p:sp>
      <p:sp>
        <p:nvSpPr>
          <p:cNvPr name="TextBox 47" id="47"/>
          <p:cNvSpPr txBox="true"/>
          <p:nvPr/>
        </p:nvSpPr>
        <p:spPr>
          <a:xfrm rot="0">
            <a:off x="8383369" y="8043968"/>
            <a:ext cx="8635457"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Provide performance updates</a:t>
            </a:r>
            <a:r>
              <a:rPr lang="en-US" sz="2299" spc="25">
                <a:solidFill>
                  <a:srgbClr val="000000"/>
                </a:solidFill>
                <a:latin typeface="Garet Light"/>
                <a:ea typeface="Garet Light"/>
                <a:cs typeface="Garet Light"/>
                <a:sym typeface="Garet Light"/>
              </a:rPr>
              <a:t> and operational reports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518158">
            <a:off x="18365382" y="671351"/>
            <a:ext cx="5136624" cy="14973834"/>
            <a:chOff x="0" y="0"/>
            <a:chExt cx="1352856" cy="3943726"/>
          </a:xfrm>
        </p:grpSpPr>
        <p:sp>
          <p:nvSpPr>
            <p:cNvPr name="Freeform 3" id="3"/>
            <p:cNvSpPr/>
            <p:nvPr/>
          </p:nvSpPr>
          <p:spPr>
            <a:xfrm flipH="false" flipV="false" rot="0">
              <a:off x="0" y="0"/>
              <a:ext cx="1352856" cy="3943726"/>
            </a:xfrm>
            <a:custGeom>
              <a:avLst/>
              <a:gdLst/>
              <a:ahLst/>
              <a:cxnLst/>
              <a:rect r="r" b="b" t="t" l="l"/>
              <a:pathLst>
                <a:path h="3943726" w="1352856">
                  <a:moveTo>
                    <a:pt x="203200" y="0"/>
                  </a:moveTo>
                  <a:lnTo>
                    <a:pt x="1352856" y="0"/>
                  </a:lnTo>
                  <a:lnTo>
                    <a:pt x="1149656" y="3943726"/>
                  </a:lnTo>
                  <a:lnTo>
                    <a:pt x="0" y="3943726"/>
                  </a:lnTo>
                  <a:lnTo>
                    <a:pt x="203200" y="0"/>
                  </a:lnTo>
                  <a:close/>
                </a:path>
              </a:pathLst>
            </a:custGeom>
            <a:solidFill>
              <a:srgbClr val="F1A50E"/>
            </a:solidFill>
          </p:spPr>
        </p:sp>
        <p:sp>
          <p:nvSpPr>
            <p:cNvPr name="TextBox 4" id="4"/>
            <p:cNvSpPr txBox="true"/>
            <p:nvPr/>
          </p:nvSpPr>
          <p:spPr>
            <a:xfrm>
              <a:off x="101600" y="-38100"/>
              <a:ext cx="1149656" cy="3981826"/>
            </a:xfrm>
            <a:prstGeom prst="rect">
              <a:avLst/>
            </a:prstGeom>
          </p:spPr>
          <p:txBody>
            <a:bodyPr anchor="ctr" rtlCol="false" tIns="50800" lIns="50800" bIns="50800" rIns="50800"/>
            <a:lstStyle/>
            <a:p>
              <a:pPr algn="ctr">
                <a:lnSpc>
                  <a:spcPts val="3359"/>
                </a:lnSpc>
              </a:pPr>
            </a:p>
          </p:txBody>
        </p:sp>
      </p:grpSp>
      <p:grpSp>
        <p:nvGrpSpPr>
          <p:cNvPr name="Group 5" id="5"/>
          <p:cNvGrpSpPr/>
          <p:nvPr/>
        </p:nvGrpSpPr>
        <p:grpSpPr>
          <a:xfrm rot="2518158">
            <a:off x="17924120" y="4384264"/>
            <a:ext cx="3733240" cy="10172185"/>
            <a:chOff x="0" y="0"/>
            <a:chExt cx="1447366" cy="3943726"/>
          </a:xfrm>
        </p:grpSpPr>
        <p:sp>
          <p:nvSpPr>
            <p:cNvPr name="Freeform 6" id="6"/>
            <p:cNvSpPr/>
            <p:nvPr/>
          </p:nvSpPr>
          <p:spPr>
            <a:xfrm flipH="false" flipV="false" rot="0">
              <a:off x="0" y="0"/>
              <a:ext cx="1447366" cy="3943726"/>
            </a:xfrm>
            <a:custGeom>
              <a:avLst/>
              <a:gdLst/>
              <a:ahLst/>
              <a:cxnLst/>
              <a:rect r="r" b="b" t="t" l="l"/>
              <a:pathLst>
                <a:path h="3943726" w="1447366">
                  <a:moveTo>
                    <a:pt x="203200" y="0"/>
                  </a:moveTo>
                  <a:lnTo>
                    <a:pt x="1447366" y="0"/>
                  </a:lnTo>
                  <a:lnTo>
                    <a:pt x="1244166" y="3943726"/>
                  </a:lnTo>
                  <a:lnTo>
                    <a:pt x="0" y="3943726"/>
                  </a:lnTo>
                  <a:lnTo>
                    <a:pt x="203200" y="0"/>
                  </a:lnTo>
                  <a:close/>
                </a:path>
              </a:pathLst>
            </a:custGeom>
            <a:solidFill>
              <a:srgbClr val="FFDE59"/>
            </a:solidFill>
          </p:spPr>
        </p:sp>
        <p:sp>
          <p:nvSpPr>
            <p:cNvPr name="TextBox 7" id="7"/>
            <p:cNvSpPr txBox="true"/>
            <p:nvPr/>
          </p:nvSpPr>
          <p:spPr>
            <a:xfrm>
              <a:off x="101600" y="-38100"/>
              <a:ext cx="1244166" cy="3981826"/>
            </a:xfrm>
            <a:prstGeom prst="rect">
              <a:avLst/>
            </a:prstGeom>
          </p:spPr>
          <p:txBody>
            <a:bodyPr anchor="ctr" rtlCol="false" tIns="50800" lIns="50800" bIns="50800" rIns="50800"/>
            <a:lstStyle/>
            <a:p>
              <a:pPr algn="ctr">
                <a:lnSpc>
                  <a:spcPts val="3359"/>
                </a:lnSpc>
              </a:pPr>
            </a:p>
          </p:txBody>
        </p:sp>
      </p:grpSp>
      <p:sp>
        <p:nvSpPr>
          <p:cNvPr name="Freeform 8" id="8"/>
          <p:cNvSpPr/>
          <p:nvPr/>
        </p:nvSpPr>
        <p:spPr>
          <a:xfrm flipH="false" flipV="false" rot="-2700000">
            <a:off x="15450932" y="8025141"/>
            <a:ext cx="7350486" cy="1200452"/>
          </a:xfrm>
          <a:custGeom>
            <a:avLst/>
            <a:gdLst/>
            <a:ahLst/>
            <a:cxnLst/>
            <a:rect r="r" b="b" t="t" l="l"/>
            <a:pathLst>
              <a:path h="1200452" w="7350486">
                <a:moveTo>
                  <a:pt x="0" y="0"/>
                </a:moveTo>
                <a:lnTo>
                  <a:pt x="7350486" y="0"/>
                </a:lnTo>
                <a:lnTo>
                  <a:pt x="7350486" y="1200453"/>
                </a:lnTo>
                <a:lnTo>
                  <a:pt x="0" y="1200453"/>
                </a:lnTo>
                <a:lnTo>
                  <a:pt x="0" y="0"/>
                </a:lnTo>
                <a:close/>
              </a:path>
            </a:pathLst>
          </a:custGeom>
          <a:blipFill>
            <a:blip r:embed="rId2">
              <a:alphaModFix amt="27000"/>
            </a:blip>
            <a:stretch>
              <a:fillRect l="0" t="-4950" r="-2830" b="-4950"/>
            </a:stretch>
          </a:blipFill>
        </p:spPr>
      </p:sp>
      <p:grpSp>
        <p:nvGrpSpPr>
          <p:cNvPr name="Group 9" id="9"/>
          <p:cNvGrpSpPr/>
          <p:nvPr/>
        </p:nvGrpSpPr>
        <p:grpSpPr>
          <a:xfrm rot="2518158">
            <a:off x="19394628" y="4673466"/>
            <a:ext cx="3280102" cy="7974061"/>
            <a:chOff x="0" y="0"/>
            <a:chExt cx="1622238" cy="3943726"/>
          </a:xfrm>
        </p:grpSpPr>
        <p:sp>
          <p:nvSpPr>
            <p:cNvPr name="Freeform 10" id="10"/>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11" id="11"/>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12" id="12"/>
          <p:cNvGrpSpPr/>
          <p:nvPr/>
        </p:nvGrpSpPr>
        <p:grpSpPr>
          <a:xfrm rot="0">
            <a:off x="1177437" y="348047"/>
            <a:ext cx="2564062" cy="1957322"/>
            <a:chOff x="0" y="0"/>
            <a:chExt cx="3418750" cy="2609762"/>
          </a:xfrm>
        </p:grpSpPr>
        <p:sp>
          <p:nvSpPr>
            <p:cNvPr name="Freeform 13" id="13"/>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15" id="15"/>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16" id="16"/>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sp>
        <p:nvSpPr>
          <p:cNvPr name="TextBox 17" id="17"/>
          <p:cNvSpPr txBox="true"/>
          <p:nvPr/>
        </p:nvSpPr>
        <p:spPr>
          <a:xfrm rot="0">
            <a:off x="1998428" y="2931801"/>
            <a:ext cx="15493404" cy="1508760"/>
          </a:xfrm>
          <a:prstGeom prst="rect">
            <a:avLst/>
          </a:prstGeom>
        </p:spPr>
        <p:txBody>
          <a:bodyPr anchor="t" rtlCol="false" tIns="0" lIns="0" bIns="0" rIns="0">
            <a:spAutoFit/>
          </a:bodyPr>
          <a:lstStyle/>
          <a:p>
            <a:pPr algn="l">
              <a:lnSpc>
                <a:spcPts val="5820"/>
              </a:lnSpc>
            </a:pPr>
            <a:r>
              <a:rPr lang="en-US" b="true" sz="6000" spc="282">
                <a:solidFill>
                  <a:srgbClr val="F1A50E"/>
                </a:solidFill>
                <a:latin typeface="Garet Bold"/>
                <a:ea typeface="Garet Bold"/>
                <a:cs typeface="Garet Bold"/>
                <a:sym typeface="Garet Bold"/>
              </a:rPr>
              <a:t>WHY CLIENTS CHOOSE </a:t>
            </a:r>
          </a:p>
          <a:p>
            <a:pPr algn="l">
              <a:lnSpc>
                <a:spcPts val="5820"/>
              </a:lnSpc>
            </a:pPr>
            <a:r>
              <a:rPr lang="en-US" b="true" sz="6000" spc="282">
                <a:solidFill>
                  <a:srgbClr val="F1A50E"/>
                </a:solidFill>
                <a:latin typeface="Garet Bold"/>
                <a:ea typeface="Garet Bold"/>
                <a:cs typeface="Garet Bold"/>
                <a:sym typeface="Garet Bold"/>
              </a:rPr>
              <a:t>SINA SUPPLIES AND LOGISTICS PLC</a:t>
            </a:r>
          </a:p>
        </p:txBody>
      </p:sp>
      <p:sp>
        <p:nvSpPr>
          <p:cNvPr name="TextBox 18" id="18"/>
          <p:cNvSpPr txBox="true"/>
          <p:nvPr/>
        </p:nvSpPr>
        <p:spPr>
          <a:xfrm rot="0">
            <a:off x="1998428" y="4684910"/>
            <a:ext cx="3937113"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Re</a:t>
            </a:r>
            <a:r>
              <a:rPr lang="en-US" b="true" sz="2299" spc="25">
                <a:solidFill>
                  <a:srgbClr val="000000"/>
                </a:solidFill>
                <a:latin typeface="Garet Bold"/>
                <a:ea typeface="Garet Bold"/>
                <a:cs typeface="Garet Bold"/>
                <a:sym typeface="Garet Bold"/>
              </a:rPr>
              <a:t>liable service delivery:</a:t>
            </a:r>
          </a:p>
        </p:txBody>
      </p:sp>
      <p:sp>
        <p:nvSpPr>
          <p:cNvPr name="TextBox 19" id="19"/>
          <p:cNvSpPr txBox="true"/>
          <p:nvPr/>
        </p:nvSpPr>
        <p:spPr>
          <a:xfrm rot="0">
            <a:off x="6059169" y="4684910"/>
            <a:ext cx="8081861"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Consistent execut</a:t>
            </a:r>
            <a:r>
              <a:rPr lang="en-US" sz="2299" spc="25">
                <a:solidFill>
                  <a:srgbClr val="000000"/>
                </a:solidFill>
                <a:latin typeface="Garet Light"/>
                <a:ea typeface="Garet Light"/>
                <a:cs typeface="Garet Light"/>
                <a:sym typeface="Garet Light"/>
              </a:rPr>
              <a:t>ion and dependable support</a:t>
            </a:r>
          </a:p>
        </p:txBody>
      </p:sp>
      <p:sp>
        <p:nvSpPr>
          <p:cNvPr name="TextBox 20" id="20"/>
          <p:cNvSpPr txBox="true"/>
          <p:nvPr/>
        </p:nvSpPr>
        <p:spPr>
          <a:xfrm rot="0">
            <a:off x="1998428" y="5396111"/>
            <a:ext cx="7394856"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Strong suppl</a:t>
            </a:r>
            <a:r>
              <a:rPr lang="en-US" b="true" sz="2299" spc="25">
                <a:solidFill>
                  <a:srgbClr val="000000"/>
                </a:solidFill>
                <a:latin typeface="Garet Bold"/>
                <a:ea typeface="Garet Bold"/>
                <a:cs typeface="Garet Bold"/>
                <a:sym typeface="Garet Bold"/>
              </a:rPr>
              <a:t>ier and service provider network:</a:t>
            </a:r>
          </a:p>
        </p:txBody>
      </p:sp>
      <p:sp>
        <p:nvSpPr>
          <p:cNvPr name="TextBox 21" id="21"/>
          <p:cNvSpPr txBox="true"/>
          <p:nvPr/>
        </p:nvSpPr>
        <p:spPr>
          <a:xfrm rot="0">
            <a:off x="9307559" y="5396111"/>
            <a:ext cx="8635457"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Access to qualified vendors</a:t>
            </a:r>
            <a:r>
              <a:rPr lang="en-US" sz="2299" spc="25">
                <a:solidFill>
                  <a:srgbClr val="000000"/>
                </a:solidFill>
                <a:latin typeface="Garet Light"/>
                <a:ea typeface="Garet Light"/>
                <a:cs typeface="Garet Light"/>
                <a:sym typeface="Garet Light"/>
              </a:rPr>
              <a:t> and partners</a:t>
            </a:r>
          </a:p>
        </p:txBody>
      </p:sp>
      <p:sp>
        <p:nvSpPr>
          <p:cNvPr name="TextBox 22" id="22"/>
          <p:cNvSpPr txBox="true"/>
          <p:nvPr/>
        </p:nvSpPr>
        <p:spPr>
          <a:xfrm rot="0">
            <a:off x="1998428" y="6107311"/>
            <a:ext cx="6129493"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Quality assuranc</a:t>
            </a:r>
            <a:r>
              <a:rPr lang="en-US" b="true" sz="2299" spc="25">
                <a:solidFill>
                  <a:srgbClr val="000000"/>
                </a:solidFill>
                <a:latin typeface="Garet Bold"/>
                <a:ea typeface="Garet Bold"/>
                <a:cs typeface="Garet Bold"/>
                <a:sym typeface="Garet Bold"/>
              </a:rPr>
              <a:t>e and accountability:</a:t>
            </a:r>
          </a:p>
        </p:txBody>
      </p:sp>
      <p:sp>
        <p:nvSpPr>
          <p:cNvPr name="TextBox 23" id="23"/>
          <p:cNvSpPr txBox="true"/>
          <p:nvPr/>
        </p:nvSpPr>
        <p:spPr>
          <a:xfrm rot="0">
            <a:off x="8080296" y="6107311"/>
            <a:ext cx="8635457"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Standards, checks,</a:t>
            </a:r>
            <a:r>
              <a:rPr lang="en-US" sz="2299" spc="25">
                <a:solidFill>
                  <a:srgbClr val="000000"/>
                </a:solidFill>
                <a:latin typeface="Garet Light"/>
                <a:ea typeface="Garet Light"/>
                <a:cs typeface="Garet Light"/>
                <a:sym typeface="Garet Light"/>
              </a:rPr>
              <a:t> and responsible delivery</a:t>
            </a:r>
          </a:p>
        </p:txBody>
      </p:sp>
      <p:sp>
        <p:nvSpPr>
          <p:cNvPr name="TextBox 24" id="24"/>
          <p:cNvSpPr txBox="true"/>
          <p:nvPr/>
        </p:nvSpPr>
        <p:spPr>
          <a:xfrm rot="0">
            <a:off x="1998428" y="6818511"/>
            <a:ext cx="5123391"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F</a:t>
            </a:r>
            <a:r>
              <a:rPr lang="en-US" b="true" sz="2299" spc="25">
                <a:solidFill>
                  <a:srgbClr val="000000"/>
                </a:solidFill>
                <a:latin typeface="Garet Bold"/>
                <a:ea typeface="Garet Bold"/>
                <a:cs typeface="Garet Bold"/>
                <a:sym typeface="Garet Bold"/>
              </a:rPr>
              <a:t>ast response and coordination:</a:t>
            </a:r>
          </a:p>
        </p:txBody>
      </p:sp>
      <p:sp>
        <p:nvSpPr>
          <p:cNvPr name="TextBox 25" id="25"/>
          <p:cNvSpPr txBox="true"/>
          <p:nvPr/>
        </p:nvSpPr>
        <p:spPr>
          <a:xfrm rot="0">
            <a:off x="7121818" y="6818511"/>
            <a:ext cx="8081861"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Quick communicat</a:t>
            </a:r>
            <a:r>
              <a:rPr lang="en-US" sz="2299" spc="25">
                <a:solidFill>
                  <a:srgbClr val="000000"/>
                </a:solidFill>
                <a:latin typeface="Garet Light"/>
                <a:ea typeface="Garet Light"/>
                <a:cs typeface="Garet Light"/>
                <a:sym typeface="Garet Light"/>
              </a:rPr>
              <a:t>ion and issue resolution</a:t>
            </a:r>
          </a:p>
        </p:txBody>
      </p:sp>
      <p:sp>
        <p:nvSpPr>
          <p:cNvPr name="TextBox 26" id="26"/>
          <p:cNvSpPr txBox="true"/>
          <p:nvPr/>
        </p:nvSpPr>
        <p:spPr>
          <a:xfrm rot="0">
            <a:off x="1998428" y="7529712"/>
            <a:ext cx="5734068"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Cost-effect</a:t>
            </a:r>
            <a:r>
              <a:rPr lang="en-US" b="true" sz="2299" spc="25">
                <a:solidFill>
                  <a:srgbClr val="000000"/>
                </a:solidFill>
                <a:latin typeface="Garet Bold"/>
                <a:ea typeface="Garet Bold"/>
                <a:cs typeface="Garet Bold"/>
                <a:sym typeface="Garet Bold"/>
              </a:rPr>
              <a:t>ive operational support:</a:t>
            </a:r>
          </a:p>
        </p:txBody>
      </p:sp>
      <p:sp>
        <p:nvSpPr>
          <p:cNvPr name="TextBox 27" id="27"/>
          <p:cNvSpPr txBox="true"/>
          <p:nvPr/>
        </p:nvSpPr>
        <p:spPr>
          <a:xfrm rot="0">
            <a:off x="7732496" y="7529712"/>
            <a:ext cx="8635457"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Practical solutions</a:t>
            </a:r>
            <a:r>
              <a:rPr lang="en-US" sz="2299" spc="25">
                <a:solidFill>
                  <a:srgbClr val="000000"/>
                </a:solidFill>
                <a:latin typeface="Garet Light"/>
                <a:ea typeface="Garet Light"/>
                <a:cs typeface="Garet Light"/>
                <a:sym typeface="Garet Light"/>
              </a:rPr>
              <a:t> that help control expenses</a:t>
            </a:r>
          </a:p>
        </p:txBody>
      </p:sp>
      <p:sp>
        <p:nvSpPr>
          <p:cNvPr name="TextBox 28" id="28"/>
          <p:cNvSpPr txBox="true"/>
          <p:nvPr/>
        </p:nvSpPr>
        <p:spPr>
          <a:xfrm rot="0">
            <a:off x="1998428" y="8240912"/>
            <a:ext cx="6472196" cy="463550"/>
          </a:xfrm>
          <a:prstGeom prst="rect">
            <a:avLst/>
          </a:prstGeom>
        </p:spPr>
        <p:txBody>
          <a:bodyPr anchor="t" rtlCol="false" tIns="0" lIns="0" bIns="0" rIns="0">
            <a:spAutoFit/>
          </a:bodyPr>
          <a:lstStyle/>
          <a:p>
            <a:pPr algn="just">
              <a:lnSpc>
                <a:spcPts val="3909"/>
              </a:lnSpc>
            </a:pPr>
            <a:r>
              <a:rPr lang="en-US" b="true" sz="2299" spc="25">
                <a:solidFill>
                  <a:srgbClr val="000000"/>
                </a:solidFill>
                <a:latin typeface="Garet Bold"/>
                <a:ea typeface="Garet Bold"/>
                <a:cs typeface="Garet Bold"/>
                <a:sym typeface="Garet Bold"/>
              </a:rPr>
              <a:t>Integrated solutions</a:t>
            </a:r>
            <a:r>
              <a:rPr lang="en-US" b="true" sz="2299" spc="25">
                <a:solidFill>
                  <a:srgbClr val="000000"/>
                </a:solidFill>
                <a:latin typeface="Garet Bold"/>
                <a:ea typeface="Garet Bold"/>
                <a:cs typeface="Garet Bold"/>
                <a:sym typeface="Garet Bold"/>
              </a:rPr>
              <a:t> under one provider:</a:t>
            </a:r>
          </a:p>
        </p:txBody>
      </p:sp>
      <p:sp>
        <p:nvSpPr>
          <p:cNvPr name="TextBox 29" id="29"/>
          <p:cNvSpPr txBox="true"/>
          <p:nvPr/>
        </p:nvSpPr>
        <p:spPr>
          <a:xfrm rot="0">
            <a:off x="8492103" y="8240912"/>
            <a:ext cx="8635457" cy="463550"/>
          </a:xfrm>
          <a:prstGeom prst="rect">
            <a:avLst/>
          </a:prstGeom>
        </p:spPr>
        <p:txBody>
          <a:bodyPr anchor="t" rtlCol="false" tIns="0" lIns="0" bIns="0" rIns="0">
            <a:spAutoFit/>
          </a:bodyPr>
          <a:lstStyle/>
          <a:p>
            <a:pPr algn="just">
              <a:lnSpc>
                <a:spcPts val="3909"/>
              </a:lnSpc>
            </a:pPr>
            <a:r>
              <a:rPr lang="en-US" sz="2299" spc="25">
                <a:solidFill>
                  <a:srgbClr val="000000"/>
                </a:solidFill>
                <a:latin typeface="Garet Light"/>
                <a:ea typeface="Garet Light"/>
                <a:cs typeface="Garet Light"/>
                <a:sym typeface="Garet Light"/>
              </a:rPr>
              <a:t>Procurement, staffing, events,</a:t>
            </a:r>
            <a:r>
              <a:rPr lang="en-US" sz="2299" spc="25">
                <a:solidFill>
                  <a:srgbClr val="000000"/>
                </a:solidFill>
                <a:latin typeface="Garet Light"/>
                <a:ea typeface="Garet Light"/>
                <a:cs typeface="Garet Light"/>
                <a:sym typeface="Garet Light"/>
              </a:rPr>
              <a:t> and property support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2313141" y="4151763"/>
            <a:ext cx="9650065" cy="1200452"/>
          </a:xfrm>
          <a:custGeom>
            <a:avLst/>
            <a:gdLst/>
            <a:ahLst/>
            <a:cxnLst/>
            <a:rect r="r" b="b" t="t" l="l"/>
            <a:pathLst>
              <a:path h="1200452" w="9650065">
                <a:moveTo>
                  <a:pt x="0" y="0"/>
                </a:moveTo>
                <a:lnTo>
                  <a:pt x="9650065" y="0"/>
                </a:lnTo>
                <a:lnTo>
                  <a:pt x="9650065" y="1200453"/>
                </a:lnTo>
                <a:lnTo>
                  <a:pt x="0" y="1200453"/>
                </a:lnTo>
                <a:lnTo>
                  <a:pt x="0" y="0"/>
                </a:lnTo>
                <a:close/>
              </a:path>
            </a:pathLst>
          </a:custGeom>
          <a:blipFill>
            <a:blip r:embed="rId2">
              <a:alphaModFix amt="13000"/>
            </a:blip>
            <a:stretch>
              <a:fillRect l="0" t="-20155" r="0" b="-20155"/>
            </a:stretch>
          </a:blipFill>
        </p:spPr>
      </p:sp>
      <p:sp>
        <p:nvSpPr>
          <p:cNvPr name="Freeform 3" id="3"/>
          <p:cNvSpPr/>
          <p:nvPr/>
        </p:nvSpPr>
        <p:spPr>
          <a:xfrm flipH="false" flipV="false" rot="8100000">
            <a:off x="1628656" y="8674551"/>
            <a:ext cx="5343536" cy="1200452"/>
          </a:xfrm>
          <a:custGeom>
            <a:avLst/>
            <a:gdLst/>
            <a:ahLst/>
            <a:cxnLst/>
            <a:rect r="r" b="b" t="t" l="l"/>
            <a:pathLst>
              <a:path h="1200452" w="5343536">
                <a:moveTo>
                  <a:pt x="0" y="0"/>
                </a:moveTo>
                <a:lnTo>
                  <a:pt x="5343536" y="0"/>
                </a:lnTo>
                <a:lnTo>
                  <a:pt x="5343536" y="1200452"/>
                </a:lnTo>
                <a:lnTo>
                  <a:pt x="0" y="1200452"/>
                </a:lnTo>
                <a:lnTo>
                  <a:pt x="0" y="0"/>
                </a:lnTo>
                <a:close/>
              </a:path>
            </a:pathLst>
          </a:custGeom>
          <a:blipFill>
            <a:blip r:embed="rId2">
              <a:alphaModFix amt="19999"/>
            </a:blip>
            <a:stretch>
              <a:fillRect l="0" t="-7391" r="-47734" b="-7391"/>
            </a:stretch>
          </a:blipFill>
        </p:spPr>
      </p:sp>
      <p:grpSp>
        <p:nvGrpSpPr>
          <p:cNvPr name="Group 4" id="4"/>
          <p:cNvGrpSpPr/>
          <p:nvPr/>
        </p:nvGrpSpPr>
        <p:grpSpPr>
          <a:xfrm rot="-10800000">
            <a:off x="-6424337" y="1652165"/>
            <a:ext cx="12407330" cy="12407330"/>
            <a:chOff x="0" y="0"/>
            <a:chExt cx="812800" cy="812800"/>
          </a:xfrm>
        </p:grpSpPr>
        <p:sp>
          <p:nvSpPr>
            <p:cNvPr name="Freeform 5" id="5"/>
            <p:cNvSpPr/>
            <p:nvPr/>
          </p:nvSpPr>
          <p:spPr>
            <a:xfrm flipH="false" flipV="false" rot="0">
              <a:off x="14474" y="14474"/>
              <a:ext cx="783852" cy="783852"/>
            </a:xfrm>
            <a:custGeom>
              <a:avLst/>
              <a:gdLst/>
              <a:ahLst/>
              <a:cxnLst/>
              <a:rect r="r" b="b" t="t" l="l"/>
              <a:pathLst>
                <a:path h="783852" w="783852">
                  <a:moveTo>
                    <a:pt x="416634" y="10234"/>
                  </a:moveTo>
                  <a:lnTo>
                    <a:pt x="773618" y="367218"/>
                  </a:lnTo>
                  <a:cubicBezTo>
                    <a:pt x="780171" y="373771"/>
                    <a:pt x="783852" y="382659"/>
                    <a:pt x="783852" y="391926"/>
                  </a:cubicBezTo>
                  <a:cubicBezTo>
                    <a:pt x="783852" y="401193"/>
                    <a:pt x="780171" y="410081"/>
                    <a:pt x="773618" y="416634"/>
                  </a:cubicBezTo>
                  <a:lnTo>
                    <a:pt x="416634" y="773618"/>
                  </a:lnTo>
                  <a:cubicBezTo>
                    <a:pt x="410081" y="780171"/>
                    <a:pt x="401193" y="783852"/>
                    <a:pt x="391926" y="783852"/>
                  </a:cubicBezTo>
                  <a:cubicBezTo>
                    <a:pt x="382659" y="783852"/>
                    <a:pt x="373771" y="780171"/>
                    <a:pt x="367218" y="773618"/>
                  </a:cubicBezTo>
                  <a:lnTo>
                    <a:pt x="10234" y="416634"/>
                  </a:lnTo>
                  <a:cubicBezTo>
                    <a:pt x="3681" y="410081"/>
                    <a:pt x="0" y="401193"/>
                    <a:pt x="0" y="391926"/>
                  </a:cubicBezTo>
                  <a:cubicBezTo>
                    <a:pt x="0" y="382659"/>
                    <a:pt x="3681" y="373771"/>
                    <a:pt x="10234" y="367218"/>
                  </a:cubicBezTo>
                  <a:lnTo>
                    <a:pt x="367218" y="10234"/>
                  </a:lnTo>
                  <a:cubicBezTo>
                    <a:pt x="373771" y="3681"/>
                    <a:pt x="382659" y="0"/>
                    <a:pt x="391926" y="0"/>
                  </a:cubicBezTo>
                  <a:cubicBezTo>
                    <a:pt x="401193" y="0"/>
                    <a:pt x="410081" y="3681"/>
                    <a:pt x="416634" y="10234"/>
                  </a:cubicBezTo>
                  <a:close/>
                </a:path>
              </a:pathLst>
            </a:custGeom>
            <a:solidFill>
              <a:srgbClr val="FFFFFF"/>
            </a:solidFill>
          </p:spPr>
        </p:sp>
        <p:sp>
          <p:nvSpPr>
            <p:cNvPr name="TextBox 6" id="6"/>
            <p:cNvSpPr txBox="true"/>
            <p:nvPr/>
          </p:nvSpPr>
          <p:spPr>
            <a:xfrm>
              <a:off x="139700" y="101600"/>
              <a:ext cx="533400" cy="571500"/>
            </a:xfrm>
            <a:prstGeom prst="rect">
              <a:avLst/>
            </a:prstGeom>
          </p:spPr>
          <p:txBody>
            <a:bodyPr anchor="ctr" rtlCol="false" tIns="50800" lIns="50800" bIns="50800" rIns="50800"/>
            <a:lstStyle/>
            <a:p>
              <a:pPr algn="ctr">
                <a:lnSpc>
                  <a:spcPts val="3359"/>
                </a:lnSpc>
              </a:pPr>
            </a:p>
          </p:txBody>
        </p:sp>
      </p:grpSp>
      <p:grpSp>
        <p:nvGrpSpPr>
          <p:cNvPr name="Group 7" id="7"/>
          <p:cNvGrpSpPr/>
          <p:nvPr/>
        </p:nvGrpSpPr>
        <p:grpSpPr>
          <a:xfrm rot="8100000">
            <a:off x="12451650" y="-2663184"/>
            <a:ext cx="3456456" cy="11815284"/>
            <a:chOff x="0" y="0"/>
            <a:chExt cx="910342" cy="3111844"/>
          </a:xfrm>
        </p:grpSpPr>
        <p:sp>
          <p:nvSpPr>
            <p:cNvPr name="Freeform 8" id="8"/>
            <p:cNvSpPr/>
            <p:nvPr/>
          </p:nvSpPr>
          <p:spPr>
            <a:xfrm flipH="false" flipV="false" rot="0">
              <a:off x="0" y="0"/>
              <a:ext cx="910342" cy="3111844"/>
            </a:xfrm>
            <a:custGeom>
              <a:avLst/>
              <a:gdLst/>
              <a:ahLst/>
              <a:cxnLst/>
              <a:rect r="r" b="b" t="t" l="l"/>
              <a:pathLst>
                <a:path h="3111844" w="910342">
                  <a:moveTo>
                    <a:pt x="203200" y="0"/>
                  </a:moveTo>
                  <a:lnTo>
                    <a:pt x="910342" y="0"/>
                  </a:lnTo>
                  <a:lnTo>
                    <a:pt x="707142" y="3111844"/>
                  </a:lnTo>
                  <a:lnTo>
                    <a:pt x="0" y="3111844"/>
                  </a:lnTo>
                  <a:lnTo>
                    <a:pt x="203200" y="0"/>
                  </a:lnTo>
                  <a:close/>
                </a:path>
              </a:pathLst>
            </a:custGeom>
            <a:solidFill>
              <a:srgbClr val="F1A50E"/>
            </a:solidFill>
          </p:spPr>
        </p:sp>
        <p:sp>
          <p:nvSpPr>
            <p:cNvPr name="TextBox 9" id="9"/>
            <p:cNvSpPr txBox="true"/>
            <p:nvPr/>
          </p:nvSpPr>
          <p:spPr>
            <a:xfrm>
              <a:off x="101600" y="-38100"/>
              <a:ext cx="707142" cy="3149944"/>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2587936">
            <a:off x="14631524" y="-2632454"/>
            <a:ext cx="4184293" cy="10172185"/>
            <a:chOff x="0" y="0"/>
            <a:chExt cx="1622238" cy="3943726"/>
          </a:xfrm>
        </p:grpSpPr>
        <p:sp>
          <p:nvSpPr>
            <p:cNvPr name="Freeform 11" id="11"/>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FDE59"/>
            </a:solidFill>
          </p:spPr>
        </p:sp>
        <p:sp>
          <p:nvSpPr>
            <p:cNvPr name="TextBox 12" id="12"/>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13" id="13"/>
          <p:cNvSpPr/>
          <p:nvPr/>
        </p:nvSpPr>
        <p:spPr>
          <a:xfrm flipH="false" flipV="false" rot="-7806094">
            <a:off x="10356763" y="551921"/>
            <a:ext cx="5477894" cy="1200452"/>
          </a:xfrm>
          <a:custGeom>
            <a:avLst/>
            <a:gdLst/>
            <a:ahLst/>
            <a:cxnLst/>
            <a:rect r="r" b="b" t="t" l="l"/>
            <a:pathLst>
              <a:path h="1200452" w="5477894">
                <a:moveTo>
                  <a:pt x="0" y="0"/>
                </a:moveTo>
                <a:lnTo>
                  <a:pt x="5477893" y="0"/>
                </a:lnTo>
                <a:lnTo>
                  <a:pt x="5477893" y="1200452"/>
                </a:lnTo>
                <a:lnTo>
                  <a:pt x="0" y="1200452"/>
                </a:lnTo>
                <a:lnTo>
                  <a:pt x="0" y="0"/>
                </a:lnTo>
                <a:close/>
              </a:path>
            </a:pathLst>
          </a:custGeom>
          <a:blipFill>
            <a:blip r:embed="rId2">
              <a:alphaModFix amt="27000"/>
            </a:blip>
            <a:stretch>
              <a:fillRect l="-22095" t="0" r="-3456" b="0"/>
            </a:stretch>
          </a:blipFill>
        </p:spPr>
      </p:sp>
      <p:sp>
        <p:nvSpPr>
          <p:cNvPr name="Freeform 14" id="14"/>
          <p:cNvSpPr/>
          <p:nvPr/>
        </p:nvSpPr>
        <p:spPr>
          <a:xfrm flipH="false" flipV="false" rot="2700000">
            <a:off x="9024937" y="6754349"/>
            <a:ext cx="9126703" cy="2389537"/>
          </a:xfrm>
          <a:custGeom>
            <a:avLst/>
            <a:gdLst/>
            <a:ahLst/>
            <a:cxnLst/>
            <a:rect r="r" b="b" t="t" l="l"/>
            <a:pathLst>
              <a:path h="2389537" w="9126703">
                <a:moveTo>
                  <a:pt x="0" y="0"/>
                </a:moveTo>
                <a:lnTo>
                  <a:pt x="9126703" y="0"/>
                </a:lnTo>
                <a:lnTo>
                  <a:pt x="9126703" y="2389537"/>
                </a:lnTo>
                <a:lnTo>
                  <a:pt x="0" y="2389537"/>
                </a:lnTo>
                <a:lnTo>
                  <a:pt x="0" y="0"/>
                </a:lnTo>
                <a:close/>
              </a:path>
            </a:pathLst>
          </a:custGeom>
          <a:blipFill>
            <a:blip r:embed="rId3">
              <a:alphaModFix amt="53000"/>
            </a:blip>
            <a:stretch>
              <a:fillRect l="0" t="0" r="0" b="0"/>
            </a:stretch>
          </a:blipFill>
        </p:spPr>
      </p:sp>
      <p:grpSp>
        <p:nvGrpSpPr>
          <p:cNvPr name="Group 15" id="15"/>
          <p:cNvGrpSpPr/>
          <p:nvPr/>
        </p:nvGrpSpPr>
        <p:grpSpPr>
          <a:xfrm rot="0">
            <a:off x="10601736" y="224334"/>
            <a:ext cx="10351611" cy="10351611"/>
            <a:chOff x="0" y="0"/>
            <a:chExt cx="812800" cy="812800"/>
          </a:xfrm>
        </p:grpSpPr>
        <p:sp>
          <p:nvSpPr>
            <p:cNvPr name="Freeform 16" id="16"/>
            <p:cNvSpPr/>
            <p:nvPr/>
          </p:nvSpPr>
          <p:spPr>
            <a:xfrm flipH="false" flipV="false" rot="0">
              <a:off x="17348" y="17348"/>
              <a:ext cx="778104" cy="778104"/>
            </a:xfrm>
            <a:custGeom>
              <a:avLst/>
              <a:gdLst/>
              <a:ahLst/>
              <a:cxnLst/>
              <a:rect r="r" b="b" t="t" l="l"/>
              <a:pathLst>
                <a:path h="778104" w="778104">
                  <a:moveTo>
                    <a:pt x="418667" y="12267"/>
                  </a:moveTo>
                  <a:lnTo>
                    <a:pt x="765837" y="359437"/>
                  </a:lnTo>
                  <a:cubicBezTo>
                    <a:pt x="773691" y="367291"/>
                    <a:pt x="778104" y="377944"/>
                    <a:pt x="778104" y="389052"/>
                  </a:cubicBezTo>
                  <a:cubicBezTo>
                    <a:pt x="778104" y="400160"/>
                    <a:pt x="773691" y="410813"/>
                    <a:pt x="765837" y="418667"/>
                  </a:cubicBezTo>
                  <a:lnTo>
                    <a:pt x="418667" y="765837"/>
                  </a:lnTo>
                  <a:cubicBezTo>
                    <a:pt x="410813" y="773691"/>
                    <a:pt x="400160" y="778104"/>
                    <a:pt x="389052" y="778104"/>
                  </a:cubicBezTo>
                  <a:cubicBezTo>
                    <a:pt x="377944" y="778104"/>
                    <a:pt x="367291" y="773691"/>
                    <a:pt x="359437" y="765837"/>
                  </a:cubicBezTo>
                  <a:lnTo>
                    <a:pt x="12267" y="418667"/>
                  </a:lnTo>
                  <a:cubicBezTo>
                    <a:pt x="4413" y="410813"/>
                    <a:pt x="0" y="400160"/>
                    <a:pt x="0" y="389052"/>
                  </a:cubicBezTo>
                  <a:cubicBezTo>
                    <a:pt x="0" y="377944"/>
                    <a:pt x="4413" y="367291"/>
                    <a:pt x="12267" y="359437"/>
                  </a:cubicBezTo>
                  <a:lnTo>
                    <a:pt x="359437" y="12267"/>
                  </a:lnTo>
                  <a:cubicBezTo>
                    <a:pt x="367291" y="4413"/>
                    <a:pt x="377944" y="0"/>
                    <a:pt x="389052" y="0"/>
                  </a:cubicBezTo>
                  <a:cubicBezTo>
                    <a:pt x="400160" y="0"/>
                    <a:pt x="410813" y="4413"/>
                    <a:pt x="418667" y="12267"/>
                  </a:cubicBezTo>
                  <a:close/>
                </a:path>
              </a:pathLst>
            </a:custGeom>
            <a:solidFill>
              <a:srgbClr val="FFFFFF"/>
            </a:solidFill>
          </p:spPr>
        </p:sp>
        <p:sp>
          <p:nvSpPr>
            <p:cNvPr name="TextBox 17" id="17"/>
            <p:cNvSpPr txBox="true"/>
            <p:nvPr/>
          </p:nvSpPr>
          <p:spPr>
            <a:xfrm>
              <a:off x="139700" y="101600"/>
              <a:ext cx="533400" cy="571500"/>
            </a:xfrm>
            <a:prstGeom prst="rect">
              <a:avLst/>
            </a:prstGeom>
          </p:spPr>
          <p:txBody>
            <a:bodyPr anchor="ctr" rtlCol="false" tIns="42383" lIns="42383" bIns="42383" rIns="42383"/>
            <a:lstStyle/>
            <a:p>
              <a:pPr algn="ctr">
                <a:lnSpc>
                  <a:spcPts val="3359"/>
                </a:lnSpc>
              </a:pPr>
            </a:p>
          </p:txBody>
        </p:sp>
      </p:grpSp>
      <p:grpSp>
        <p:nvGrpSpPr>
          <p:cNvPr name="Group 18" id="18"/>
          <p:cNvGrpSpPr/>
          <p:nvPr/>
        </p:nvGrpSpPr>
        <p:grpSpPr>
          <a:xfrm rot="0">
            <a:off x="11116103" y="738700"/>
            <a:ext cx="9322879" cy="9322879"/>
            <a:chOff x="0" y="0"/>
            <a:chExt cx="812800" cy="812800"/>
          </a:xfrm>
        </p:grpSpPr>
        <p:sp>
          <p:nvSpPr>
            <p:cNvPr name="Freeform 19" id="19"/>
            <p:cNvSpPr/>
            <p:nvPr/>
          </p:nvSpPr>
          <p:spPr>
            <a:xfrm flipH="false" flipV="false" rot="0">
              <a:off x="19262" y="19262"/>
              <a:ext cx="774275" cy="774275"/>
            </a:xfrm>
            <a:custGeom>
              <a:avLst/>
              <a:gdLst/>
              <a:ahLst/>
              <a:cxnLst/>
              <a:rect r="r" b="b" t="t" l="l"/>
              <a:pathLst>
                <a:path h="774275" w="774275">
                  <a:moveTo>
                    <a:pt x="420021" y="13621"/>
                  </a:moveTo>
                  <a:lnTo>
                    <a:pt x="760655" y="354255"/>
                  </a:lnTo>
                  <a:cubicBezTo>
                    <a:pt x="778816" y="372416"/>
                    <a:pt x="778816" y="401860"/>
                    <a:pt x="760655" y="420021"/>
                  </a:cubicBezTo>
                  <a:lnTo>
                    <a:pt x="420021" y="760655"/>
                  </a:lnTo>
                  <a:cubicBezTo>
                    <a:pt x="401860" y="778816"/>
                    <a:pt x="372416" y="778816"/>
                    <a:pt x="354255" y="760655"/>
                  </a:cubicBezTo>
                  <a:lnTo>
                    <a:pt x="13621" y="420021"/>
                  </a:lnTo>
                  <a:cubicBezTo>
                    <a:pt x="-4540" y="401860"/>
                    <a:pt x="-4540" y="372416"/>
                    <a:pt x="13621" y="354255"/>
                  </a:cubicBezTo>
                  <a:lnTo>
                    <a:pt x="354255" y="13621"/>
                  </a:lnTo>
                  <a:cubicBezTo>
                    <a:pt x="372416" y="-4540"/>
                    <a:pt x="401860" y="-4540"/>
                    <a:pt x="420021" y="13621"/>
                  </a:cubicBezTo>
                  <a:close/>
                </a:path>
              </a:pathLst>
            </a:custGeom>
            <a:blipFill>
              <a:blip r:embed="rId4"/>
              <a:stretch>
                <a:fillRect l="0" t="-25136" r="0" b="-25136"/>
              </a:stretch>
            </a:blipFill>
          </p:spPr>
        </p:sp>
      </p:grpSp>
      <p:sp>
        <p:nvSpPr>
          <p:cNvPr name="Freeform 20" id="20"/>
          <p:cNvSpPr/>
          <p:nvPr/>
        </p:nvSpPr>
        <p:spPr>
          <a:xfrm flipH="false" flipV="false" rot="-7806094">
            <a:off x="14034241" y="1275625"/>
            <a:ext cx="5477894" cy="1200452"/>
          </a:xfrm>
          <a:custGeom>
            <a:avLst/>
            <a:gdLst/>
            <a:ahLst/>
            <a:cxnLst/>
            <a:rect r="r" b="b" t="t" l="l"/>
            <a:pathLst>
              <a:path h="1200452" w="5477894">
                <a:moveTo>
                  <a:pt x="0" y="0"/>
                </a:moveTo>
                <a:lnTo>
                  <a:pt x="5477894" y="0"/>
                </a:lnTo>
                <a:lnTo>
                  <a:pt x="5477894" y="1200452"/>
                </a:lnTo>
                <a:lnTo>
                  <a:pt x="0" y="1200452"/>
                </a:lnTo>
                <a:lnTo>
                  <a:pt x="0" y="0"/>
                </a:lnTo>
                <a:close/>
              </a:path>
            </a:pathLst>
          </a:custGeom>
          <a:blipFill>
            <a:blip r:embed="rId2">
              <a:alphaModFix amt="27000"/>
            </a:blip>
            <a:stretch>
              <a:fillRect l="-22095" t="0" r="-3456" b="0"/>
            </a:stretch>
          </a:blipFill>
        </p:spPr>
      </p:sp>
      <p:grpSp>
        <p:nvGrpSpPr>
          <p:cNvPr name="Group 21" id="21"/>
          <p:cNvGrpSpPr/>
          <p:nvPr/>
        </p:nvGrpSpPr>
        <p:grpSpPr>
          <a:xfrm rot="-2587936">
            <a:off x="15934215" y="-3293537"/>
            <a:ext cx="3280102" cy="7974061"/>
            <a:chOff x="0" y="0"/>
            <a:chExt cx="1622238" cy="3943726"/>
          </a:xfrm>
        </p:grpSpPr>
        <p:sp>
          <p:nvSpPr>
            <p:cNvPr name="Freeform 22" id="22"/>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23" id="23"/>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TextBox 24" id="24"/>
          <p:cNvSpPr txBox="true"/>
          <p:nvPr/>
        </p:nvSpPr>
        <p:spPr>
          <a:xfrm rot="0">
            <a:off x="1747648" y="3080518"/>
            <a:ext cx="9124668" cy="1508760"/>
          </a:xfrm>
          <a:prstGeom prst="rect">
            <a:avLst/>
          </a:prstGeom>
        </p:spPr>
        <p:txBody>
          <a:bodyPr anchor="t" rtlCol="false" tIns="0" lIns="0" bIns="0" rIns="0">
            <a:spAutoFit/>
          </a:bodyPr>
          <a:lstStyle/>
          <a:p>
            <a:pPr algn="l">
              <a:lnSpc>
                <a:spcPts val="5820"/>
              </a:lnSpc>
            </a:pPr>
            <a:r>
              <a:rPr lang="en-US" b="true" sz="6000" spc="282">
                <a:solidFill>
                  <a:srgbClr val="F1A50E"/>
                </a:solidFill>
                <a:latin typeface="Garet Bold"/>
                <a:ea typeface="Garet Bold"/>
                <a:cs typeface="Garet Bold"/>
                <a:sym typeface="Garet Bold"/>
              </a:rPr>
              <a:t>EX</a:t>
            </a:r>
            <a:r>
              <a:rPr lang="en-US" b="true" sz="6000" spc="282">
                <a:solidFill>
                  <a:srgbClr val="F1A50E"/>
                </a:solidFill>
                <a:latin typeface="Garet Bold"/>
                <a:ea typeface="Garet Bold"/>
                <a:cs typeface="Garet Bold"/>
                <a:sym typeface="Garet Bold"/>
              </a:rPr>
              <a:t>PECTED BENEFITS TO CLIENTS</a:t>
            </a:r>
          </a:p>
        </p:txBody>
      </p:sp>
      <p:sp>
        <p:nvSpPr>
          <p:cNvPr name="TextBox 25" id="25"/>
          <p:cNvSpPr txBox="true"/>
          <p:nvPr/>
        </p:nvSpPr>
        <p:spPr>
          <a:xfrm rot="0">
            <a:off x="1882938" y="4754664"/>
            <a:ext cx="8854088" cy="3552825"/>
          </a:xfrm>
          <a:prstGeom prst="rect">
            <a:avLst/>
          </a:prstGeom>
        </p:spPr>
        <p:txBody>
          <a:bodyPr anchor="t" rtlCol="false" tIns="0" lIns="0" bIns="0" rIns="0">
            <a:spAutoFit/>
          </a:bodyPr>
          <a:lstStyle/>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Reduced a</a:t>
            </a:r>
            <a:r>
              <a:rPr lang="en-US" sz="2100" spc="23">
                <a:solidFill>
                  <a:srgbClr val="000000"/>
                </a:solidFill>
                <a:latin typeface="Garet Light"/>
                <a:ea typeface="Garet Light"/>
                <a:cs typeface="Garet Light"/>
                <a:sym typeface="Garet Light"/>
              </a:rPr>
              <a:t>dministrative workload</a:t>
            </a:r>
          </a:p>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Improved operational efficiency</a:t>
            </a:r>
          </a:p>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Better cost control and procurement management</a:t>
            </a:r>
          </a:p>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Professional event execution</a:t>
            </a:r>
          </a:p>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Well-maintained facilities and properties</a:t>
            </a:r>
          </a:p>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Access to qualified and managed staff</a:t>
            </a:r>
          </a:p>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Enhanced employee and guest experience</a:t>
            </a:r>
          </a:p>
          <a:p>
            <a:pPr algn="just" marL="453390" indent="-226695" lvl="1">
              <a:lnSpc>
                <a:spcPts val="3569"/>
              </a:lnSpc>
              <a:buFont typeface="Arial"/>
              <a:buChar char="•"/>
            </a:pPr>
            <a:r>
              <a:rPr lang="en-US" sz="2100" spc="23">
                <a:solidFill>
                  <a:srgbClr val="000000"/>
                </a:solidFill>
                <a:latin typeface="Garet Light"/>
                <a:ea typeface="Garet Light"/>
                <a:cs typeface="Garet Light"/>
                <a:sym typeface="Garet Light"/>
              </a:rPr>
              <a:t>Timely reporting and service transparency</a:t>
            </a:r>
          </a:p>
        </p:txBody>
      </p:sp>
      <p:grpSp>
        <p:nvGrpSpPr>
          <p:cNvPr name="Group 26" id="26"/>
          <p:cNvGrpSpPr/>
          <p:nvPr/>
        </p:nvGrpSpPr>
        <p:grpSpPr>
          <a:xfrm rot="0">
            <a:off x="1177437" y="348047"/>
            <a:ext cx="2564062" cy="1957322"/>
            <a:chOff x="0" y="0"/>
            <a:chExt cx="3418750" cy="2609762"/>
          </a:xfrm>
        </p:grpSpPr>
        <p:sp>
          <p:nvSpPr>
            <p:cNvPr name="Freeform 27" id="27"/>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28" id="28"/>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29" id="29"/>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30" id="30"/>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TextBox 2" id="2"/>
          <p:cNvSpPr txBox="true"/>
          <p:nvPr/>
        </p:nvSpPr>
        <p:spPr>
          <a:xfrm rot="0">
            <a:off x="2459468" y="3111997"/>
            <a:ext cx="8187777" cy="845820"/>
          </a:xfrm>
          <a:prstGeom prst="rect">
            <a:avLst/>
          </a:prstGeom>
        </p:spPr>
        <p:txBody>
          <a:bodyPr anchor="t" rtlCol="false" tIns="0" lIns="0" bIns="0" rIns="0">
            <a:spAutoFit/>
          </a:bodyPr>
          <a:lstStyle/>
          <a:p>
            <a:pPr algn="l">
              <a:lnSpc>
                <a:spcPts val="6540"/>
              </a:lnSpc>
            </a:pPr>
            <a:r>
              <a:rPr lang="en-US" sz="6000" b="true">
                <a:solidFill>
                  <a:srgbClr val="F1A50E"/>
                </a:solidFill>
                <a:latin typeface="Garet Bold"/>
                <a:ea typeface="Garet Bold"/>
                <a:cs typeface="Garet Bold"/>
                <a:sym typeface="Garet Bold"/>
              </a:rPr>
              <a:t>ST</a:t>
            </a:r>
            <a:r>
              <a:rPr lang="en-US" b="true" sz="6000">
                <a:solidFill>
                  <a:srgbClr val="F1A50E"/>
                </a:solidFill>
                <a:latin typeface="Garet Bold"/>
                <a:ea typeface="Garet Bold"/>
                <a:cs typeface="Garet Bold"/>
                <a:sym typeface="Garet Bold"/>
              </a:rPr>
              <a:t>RATEGIC FOCUS</a:t>
            </a:r>
          </a:p>
        </p:txBody>
      </p:sp>
      <p:sp>
        <p:nvSpPr>
          <p:cNvPr name="Freeform 3" id="3"/>
          <p:cNvSpPr/>
          <p:nvPr/>
        </p:nvSpPr>
        <p:spPr>
          <a:xfrm flipH="false" flipV="false" rot="-2700000">
            <a:off x="1232406" y="6280772"/>
            <a:ext cx="1158687" cy="6457414"/>
          </a:xfrm>
          <a:custGeom>
            <a:avLst/>
            <a:gdLst/>
            <a:ahLst/>
            <a:cxnLst/>
            <a:rect r="r" b="b" t="t" l="l"/>
            <a:pathLst>
              <a:path h="6457414" w="1158687">
                <a:moveTo>
                  <a:pt x="0" y="0"/>
                </a:moveTo>
                <a:lnTo>
                  <a:pt x="1158686" y="0"/>
                </a:lnTo>
                <a:lnTo>
                  <a:pt x="1158686" y="6457414"/>
                </a:lnTo>
                <a:lnTo>
                  <a:pt x="0" y="6457414"/>
                </a:lnTo>
                <a:lnTo>
                  <a:pt x="0" y="0"/>
                </a:lnTo>
                <a:close/>
              </a:path>
            </a:pathLst>
          </a:custGeom>
          <a:blipFill>
            <a:blip r:embed="rId2"/>
            <a:stretch>
              <a:fillRect l="-105286" t="0" r="-14595" b="0"/>
            </a:stretch>
          </a:blipFill>
        </p:spPr>
      </p:sp>
      <p:grpSp>
        <p:nvGrpSpPr>
          <p:cNvPr name="Group 4" id="4"/>
          <p:cNvGrpSpPr/>
          <p:nvPr/>
        </p:nvGrpSpPr>
        <p:grpSpPr>
          <a:xfrm rot="7918158">
            <a:off x="-136144" y="6856153"/>
            <a:ext cx="2182873" cy="5306652"/>
            <a:chOff x="0" y="0"/>
            <a:chExt cx="1622238" cy="3943726"/>
          </a:xfrm>
        </p:grpSpPr>
        <p:sp>
          <p:nvSpPr>
            <p:cNvPr name="Freeform 5" id="5"/>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FDE59"/>
            </a:solidFill>
          </p:spPr>
        </p:sp>
        <p:sp>
          <p:nvSpPr>
            <p:cNvPr name="TextBox 6" id="6"/>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7" id="7"/>
          <p:cNvSpPr/>
          <p:nvPr/>
        </p:nvSpPr>
        <p:spPr>
          <a:xfrm flipH="false" flipV="false" rot="2700000">
            <a:off x="-473569" y="9498878"/>
            <a:ext cx="2857722" cy="626255"/>
          </a:xfrm>
          <a:custGeom>
            <a:avLst/>
            <a:gdLst/>
            <a:ahLst/>
            <a:cxnLst/>
            <a:rect r="r" b="b" t="t" l="l"/>
            <a:pathLst>
              <a:path h="626255" w="2857722">
                <a:moveTo>
                  <a:pt x="0" y="0"/>
                </a:moveTo>
                <a:lnTo>
                  <a:pt x="2857722" y="0"/>
                </a:lnTo>
                <a:lnTo>
                  <a:pt x="2857722" y="626255"/>
                </a:lnTo>
                <a:lnTo>
                  <a:pt x="0" y="626255"/>
                </a:lnTo>
                <a:lnTo>
                  <a:pt x="0" y="0"/>
                </a:lnTo>
                <a:close/>
              </a:path>
            </a:pathLst>
          </a:custGeom>
          <a:blipFill>
            <a:blip r:embed="rId3">
              <a:alphaModFix amt="27000"/>
            </a:blip>
            <a:stretch>
              <a:fillRect l="-22095" t="0" r="-3456" b="0"/>
            </a:stretch>
          </a:blipFill>
        </p:spPr>
      </p:sp>
      <p:grpSp>
        <p:nvGrpSpPr>
          <p:cNvPr name="Group 8" id="8"/>
          <p:cNvGrpSpPr/>
          <p:nvPr/>
        </p:nvGrpSpPr>
        <p:grpSpPr>
          <a:xfrm rot="7918158">
            <a:off x="-264006" y="8382289"/>
            <a:ext cx="1711172" cy="4159929"/>
            <a:chOff x="0" y="0"/>
            <a:chExt cx="1622238" cy="3943726"/>
          </a:xfrm>
        </p:grpSpPr>
        <p:sp>
          <p:nvSpPr>
            <p:cNvPr name="Freeform 9" id="9"/>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10" id="10"/>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1" id="11"/>
          <p:cNvSpPr/>
          <p:nvPr/>
        </p:nvSpPr>
        <p:spPr>
          <a:xfrm flipH="false" flipV="false" rot="8100000">
            <a:off x="15687264" y="-2312989"/>
            <a:ext cx="1158687" cy="6457414"/>
          </a:xfrm>
          <a:custGeom>
            <a:avLst/>
            <a:gdLst/>
            <a:ahLst/>
            <a:cxnLst/>
            <a:rect r="r" b="b" t="t" l="l"/>
            <a:pathLst>
              <a:path h="6457414" w="1158687">
                <a:moveTo>
                  <a:pt x="0" y="0"/>
                </a:moveTo>
                <a:lnTo>
                  <a:pt x="1158687" y="0"/>
                </a:lnTo>
                <a:lnTo>
                  <a:pt x="1158687" y="6457414"/>
                </a:lnTo>
                <a:lnTo>
                  <a:pt x="0" y="6457414"/>
                </a:lnTo>
                <a:lnTo>
                  <a:pt x="0" y="0"/>
                </a:lnTo>
                <a:close/>
              </a:path>
            </a:pathLst>
          </a:custGeom>
          <a:blipFill>
            <a:blip r:embed="rId2"/>
            <a:stretch>
              <a:fillRect l="-105286" t="0" r="-14595" b="0"/>
            </a:stretch>
          </a:blipFill>
        </p:spPr>
      </p:sp>
      <p:grpSp>
        <p:nvGrpSpPr>
          <p:cNvPr name="Group 12" id="12"/>
          <p:cNvGrpSpPr/>
          <p:nvPr/>
        </p:nvGrpSpPr>
        <p:grpSpPr>
          <a:xfrm rot="-2881841">
            <a:off x="16031627" y="-1737608"/>
            <a:ext cx="2182873" cy="5306652"/>
            <a:chOff x="0" y="0"/>
            <a:chExt cx="1622238" cy="3943726"/>
          </a:xfrm>
        </p:grpSpPr>
        <p:sp>
          <p:nvSpPr>
            <p:cNvPr name="Freeform 13" id="13"/>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FDE59"/>
            </a:solidFill>
          </p:spPr>
        </p:sp>
        <p:sp>
          <p:nvSpPr>
            <p:cNvPr name="TextBox 14" id="14"/>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sp>
        <p:nvSpPr>
          <p:cNvPr name="Freeform 15" id="15"/>
          <p:cNvSpPr/>
          <p:nvPr/>
        </p:nvSpPr>
        <p:spPr>
          <a:xfrm flipH="false" flipV="false" rot="-8100000">
            <a:off x="15565727" y="484500"/>
            <a:ext cx="3431466" cy="751988"/>
          </a:xfrm>
          <a:custGeom>
            <a:avLst/>
            <a:gdLst/>
            <a:ahLst/>
            <a:cxnLst/>
            <a:rect r="r" b="b" t="t" l="l"/>
            <a:pathLst>
              <a:path h="751988" w="3431466">
                <a:moveTo>
                  <a:pt x="0" y="0"/>
                </a:moveTo>
                <a:lnTo>
                  <a:pt x="3431466" y="0"/>
                </a:lnTo>
                <a:lnTo>
                  <a:pt x="3431466" y="751989"/>
                </a:lnTo>
                <a:lnTo>
                  <a:pt x="0" y="751989"/>
                </a:lnTo>
                <a:lnTo>
                  <a:pt x="0" y="0"/>
                </a:lnTo>
                <a:close/>
              </a:path>
            </a:pathLst>
          </a:custGeom>
          <a:blipFill>
            <a:blip r:embed="rId3">
              <a:alphaModFix amt="27000"/>
            </a:blip>
            <a:stretch>
              <a:fillRect l="-22095" t="0" r="-3456" b="0"/>
            </a:stretch>
          </a:blipFill>
        </p:spPr>
      </p:sp>
      <p:grpSp>
        <p:nvGrpSpPr>
          <p:cNvPr name="Group 16" id="16"/>
          <p:cNvGrpSpPr/>
          <p:nvPr/>
        </p:nvGrpSpPr>
        <p:grpSpPr>
          <a:xfrm rot="-2881841">
            <a:off x="16564515" y="-2117020"/>
            <a:ext cx="1711172" cy="4159929"/>
            <a:chOff x="0" y="0"/>
            <a:chExt cx="1622238" cy="3943726"/>
          </a:xfrm>
        </p:grpSpPr>
        <p:sp>
          <p:nvSpPr>
            <p:cNvPr name="Freeform 17" id="17"/>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18" id="18"/>
            <p:cNvSpPr txBox="true"/>
            <p:nvPr/>
          </p:nvSpPr>
          <p:spPr>
            <a:xfrm>
              <a:off x="101600" y="-38100"/>
              <a:ext cx="1419038" cy="3981826"/>
            </a:xfrm>
            <a:prstGeom prst="rect">
              <a:avLst/>
            </a:prstGeom>
          </p:spPr>
          <p:txBody>
            <a:bodyPr anchor="ctr" rtlCol="false" tIns="26501" lIns="26501" bIns="26501" rIns="26501"/>
            <a:lstStyle/>
            <a:p>
              <a:pPr algn="ctr">
                <a:lnSpc>
                  <a:spcPts val="3359"/>
                </a:lnSpc>
              </a:pPr>
            </a:p>
          </p:txBody>
        </p:sp>
      </p:grpSp>
      <p:grpSp>
        <p:nvGrpSpPr>
          <p:cNvPr name="Group 19" id="19"/>
          <p:cNvGrpSpPr/>
          <p:nvPr/>
        </p:nvGrpSpPr>
        <p:grpSpPr>
          <a:xfrm rot="0">
            <a:off x="1177437" y="348047"/>
            <a:ext cx="2564062" cy="1957322"/>
            <a:chOff x="0" y="0"/>
            <a:chExt cx="3418750" cy="2609762"/>
          </a:xfrm>
        </p:grpSpPr>
        <p:sp>
          <p:nvSpPr>
            <p:cNvPr name="Freeform 20" id="20"/>
            <p:cNvSpPr/>
            <p:nvPr/>
          </p:nvSpPr>
          <p:spPr>
            <a:xfrm flipH="false" flipV="false" rot="0">
              <a:off x="402465" y="0"/>
              <a:ext cx="2613820" cy="1439842"/>
            </a:xfrm>
            <a:custGeom>
              <a:avLst/>
              <a:gdLst/>
              <a:ahLst/>
              <a:cxnLst/>
              <a:rect r="r" b="b" t="t" l="l"/>
              <a:pathLst>
                <a:path h="1439842" w="2613820">
                  <a:moveTo>
                    <a:pt x="0" y="0"/>
                  </a:moveTo>
                  <a:lnTo>
                    <a:pt x="2613820" y="0"/>
                  </a:lnTo>
                  <a:lnTo>
                    <a:pt x="2613820" y="1439842"/>
                  </a:lnTo>
                  <a:lnTo>
                    <a:pt x="0" y="143984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1" id="21"/>
            <p:cNvSpPr txBox="true"/>
            <p:nvPr/>
          </p:nvSpPr>
          <p:spPr>
            <a:xfrm rot="0">
              <a:off x="612588" y="1347219"/>
              <a:ext cx="2193573" cy="644412"/>
            </a:xfrm>
            <a:prstGeom prst="rect">
              <a:avLst/>
            </a:prstGeom>
          </p:spPr>
          <p:txBody>
            <a:bodyPr anchor="t" rtlCol="false" tIns="0" lIns="0" bIns="0" rIns="0">
              <a:spAutoFit/>
            </a:bodyPr>
            <a:lstStyle/>
            <a:p>
              <a:pPr algn="ctr">
                <a:lnSpc>
                  <a:spcPts val="4373"/>
                </a:lnSpc>
              </a:pPr>
              <a:r>
                <a:rPr lang="en-US" b="true" sz="2572">
                  <a:solidFill>
                    <a:srgbClr val="000000"/>
                  </a:solidFill>
                  <a:latin typeface="Barlow Bold"/>
                  <a:ea typeface="Barlow Bold"/>
                  <a:cs typeface="Barlow Bold"/>
                  <a:sym typeface="Barlow Bold"/>
                </a:rPr>
                <a:t>SINA</a:t>
              </a:r>
            </a:p>
          </p:txBody>
        </p:sp>
        <p:sp>
          <p:nvSpPr>
            <p:cNvPr name="TextBox 22" id="22"/>
            <p:cNvSpPr txBox="true"/>
            <p:nvPr/>
          </p:nvSpPr>
          <p:spPr>
            <a:xfrm rot="0">
              <a:off x="0" y="1924956"/>
              <a:ext cx="3418750" cy="365895"/>
            </a:xfrm>
            <a:prstGeom prst="rect">
              <a:avLst/>
            </a:prstGeom>
          </p:spPr>
          <p:txBody>
            <a:bodyPr anchor="t" rtlCol="false" tIns="0" lIns="0" bIns="0" rIns="0">
              <a:spAutoFit/>
            </a:bodyPr>
            <a:lstStyle/>
            <a:p>
              <a:pPr algn="ctr">
                <a:lnSpc>
                  <a:spcPts val="2574"/>
                </a:lnSpc>
              </a:pPr>
              <a:r>
                <a:rPr lang="en-US" b="true" sz="1514" spc="69">
                  <a:solidFill>
                    <a:srgbClr val="000000"/>
                  </a:solidFill>
                  <a:latin typeface="Barlow Semi-Bold"/>
                  <a:ea typeface="Barlow Semi-Bold"/>
                  <a:cs typeface="Barlow Semi-Bold"/>
                  <a:sym typeface="Barlow Semi-Bold"/>
                </a:rPr>
                <a:t>SUPPLIES AND LOGISTICS</a:t>
              </a:r>
            </a:p>
          </p:txBody>
        </p:sp>
        <p:sp>
          <p:nvSpPr>
            <p:cNvPr name="TextBox 23" id="23"/>
            <p:cNvSpPr txBox="true"/>
            <p:nvPr/>
          </p:nvSpPr>
          <p:spPr>
            <a:xfrm rot="0">
              <a:off x="0" y="2359194"/>
              <a:ext cx="3418750" cy="250568"/>
            </a:xfrm>
            <a:prstGeom prst="rect">
              <a:avLst/>
            </a:prstGeom>
          </p:spPr>
          <p:txBody>
            <a:bodyPr anchor="t" rtlCol="false" tIns="0" lIns="0" bIns="0" rIns="0">
              <a:spAutoFit/>
            </a:bodyPr>
            <a:lstStyle/>
            <a:p>
              <a:pPr algn="ctr">
                <a:lnSpc>
                  <a:spcPts val="1746"/>
                </a:lnSpc>
              </a:pPr>
              <a:r>
                <a:rPr lang="en-US" b="true" sz="1027" spc="197">
                  <a:solidFill>
                    <a:srgbClr val="F1A50E"/>
                  </a:solidFill>
                  <a:latin typeface="Canva Sans Bold"/>
                  <a:ea typeface="Canva Sans Bold"/>
                  <a:cs typeface="Canva Sans Bold"/>
                  <a:sym typeface="Canva Sans Bold"/>
                </a:rPr>
                <a:t>Your Goods, Our Priority</a:t>
              </a:r>
            </a:p>
          </p:txBody>
        </p:sp>
      </p:grpSp>
      <p:sp>
        <p:nvSpPr>
          <p:cNvPr name="TextBox 24" id="24"/>
          <p:cNvSpPr txBox="true"/>
          <p:nvPr/>
        </p:nvSpPr>
        <p:spPr>
          <a:xfrm rot="0">
            <a:off x="2187064" y="4148344"/>
            <a:ext cx="8854088" cy="2657475"/>
          </a:xfrm>
          <a:prstGeom prst="rect">
            <a:avLst/>
          </a:prstGeom>
        </p:spPr>
        <p:txBody>
          <a:bodyPr anchor="t" rtlCol="false" tIns="0" lIns="0" bIns="0" rIns="0">
            <a:spAutoFit/>
          </a:bodyPr>
          <a:lstStyle/>
          <a:p>
            <a:pPr algn="just">
              <a:lnSpc>
                <a:spcPts val="3569"/>
              </a:lnSpc>
            </a:pPr>
            <a:r>
              <a:rPr lang="en-US" sz="2100" spc="23">
                <a:solidFill>
                  <a:srgbClr val="000000"/>
                </a:solidFill>
                <a:latin typeface="Garet Light"/>
                <a:ea typeface="Garet Light"/>
                <a:cs typeface="Garet Light"/>
                <a:sym typeface="Garet Light"/>
              </a:rPr>
              <a:t>SINA Supplies an</a:t>
            </a:r>
            <a:r>
              <a:rPr lang="en-US" sz="2100" spc="23">
                <a:solidFill>
                  <a:srgbClr val="000000"/>
                </a:solidFill>
                <a:latin typeface="Garet Light"/>
                <a:ea typeface="Garet Light"/>
                <a:cs typeface="Garet Light"/>
                <a:sym typeface="Garet Light"/>
              </a:rPr>
              <a:t>d Logistics PLC is committed to expanding its integrated business support solutions across Ethiopia by investing in technology, strengthening supplier partnerships, enhancing service quality, and developing a highly skilled operational team capable of serving both local and international organizations.</a:t>
            </a:r>
          </a:p>
        </p:txBody>
      </p:sp>
      <p:sp>
        <p:nvSpPr>
          <p:cNvPr name="Freeform 25" id="25"/>
          <p:cNvSpPr/>
          <p:nvPr/>
        </p:nvSpPr>
        <p:spPr>
          <a:xfrm flipH="false" flipV="false" rot="2700000">
            <a:off x="11276698" y="6828957"/>
            <a:ext cx="9126703" cy="2389537"/>
          </a:xfrm>
          <a:custGeom>
            <a:avLst/>
            <a:gdLst/>
            <a:ahLst/>
            <a:cxnLst/>
            <a:rect r="r" b="b" t="t" l="l"/>
            <a:pathLst>
              <a:path h="2389537" w="9126703">
                <a:moveTo>
                  <a:pt x="0" y="0"/>
                </a:moveTo>
                <a:lnTo>
                  <a:pt x="9126703" y="0"/>
                </a:lnTo>
                <a:lnTo>
                  <a:pt x="9126703" y="2389536"/>
                </a:lnTo>
                <a:lnTo>
                  <a:pt x="0" y="2389536"/>
                </a:lnTo>
                <a:lnTo>
                  <a:pt x="0" y="0"/>
                </a:lnTo>
                <a:close/>
              </a:path>
            </a:pathLst>
          </a:custGeom>
          <a:blipFill>
            <a:blip r:embed="rId6">
              <a:alphaModFix amt="53000"/>
            </a:blip>
            <a:stretch>
              <a:fillRect l="0" t="0" r="0" b="0"/>
            </a:stretch>
          </a:blipFill>
        </p:spPr>
      </p:sp>
      <p:grpSp>
        <p:nvGrpSpPr>
          <p:cNvPr name="Group 26" id="26"/>
          <p:cNvGrpSpPr/>
          <p:nvPr/>
        </p:nvGrpSpPr>
        <p:grpSpPr>
          <a:xfrm rot="0">
            <a:off x="12853497" y="298942"/>
            <a:ext cx="10351611" cy="10351611"/>
            <a:chOff x="0" y="0"/>
            <a:chExt cx="812800" cy="812800"/>
          </a:xfrm>
        </p:grpSpPr>
        <p:sp>
          <p:nvSpPr>
            <p:cNvPr name="Freeform 27" id="27"/>
            <p:cNvSpPr/>
            <p:nvPr/>
          </p:nvSpPr>
          <p:spPr>
            <a:xfrm flipH="false" flipV="false" rot="0">
              <a:off x="17348" y="17348"/>
              <a:ext cx="778104" cy="778104"/>
            </a:xfrm>
            <a:custGeom>
              <a:avLst/>
              <a:gdLst/>
              <a:ahLst/>
              <a:cxnLst/>
              <a:rect r="r" b="b" t="t" l="l"/>
              <a:pathLst>
                <a:path h="778104" w="778104">
                  <a:moveTo>
                    <a:pt x="418667" y="12267"/>
                  </a:moveTo>
                  <a:lnTo>
                    <a:pt x="765837" y="359437"/>
                  </a:lnTo>
                  <a:cubicBezTo>
                    <a:pt x="773691" y="367291"/>
                    <a:pt x="778104" y="377944"/>
                    <a:pt x="778104" y="389052"/>
                  </a:cubicBezTo>
                  <a:cubicBezTo>
                    <a:pt x="778104" y="400160"/>
                    <a:pt x="773691" y="410813"/>
                    <a:pt x="765837" y="418667"/>
                  </a:cubicBezTo>
                  <a:lnTo>
                    <a:pt x="418667" y="765837"/>
                  </a:lnTo>
                  <a:cubicBezTo>
                    <a:pt x="410813" y="773691"/>
                    <a:pt x="400160" y="778104"/>
                    <a:pt x="389052" y="778104"/>
                  </a:cubicBezTo>
                  <a:cubicBezTo>
                    <a:pt x="377944" y="778104"/>
                    <a:pt x="367291" y="773691"/>
                    <a:pt x="359437" y="765837"/>
                  </a:cubicBezTo>
                  <a:lnTo>
                    <a:pt x="12267" y="418667"/>
                  </a:lnTo>
                  <a:cubicBezTo>
                    <a:pt x="4413" y="410813"/>
                    <a:pt x="0" y="400160"/>
                    <a:pt x="0" y="389052"/>
                  </a:cubicBezTo>
                  <a:cubicBezTo>
                    <a:pt x="0" y="377944"/>
                    <a:pt x="4413" y="367291"/>
                    <a:pt x="12267" y="359437"/>
                  </a:cubicBezTo>
                  <a:lnTo>
                    <a:pt x="359437" y="12267"/>
                  </a:lnTo>
                  <a:cubicBezTo>
                    <a:pt x="367291" y="4413"/>
                    <a:pt x="377944" y="0"/>
                    <a:pt x="389052" y="0"/>
                  </a:cubicBezTo>
                  <a:cubicBezTo>
                    <a:pt x="400160" y="0"/>
                    <a:pt x="410813" y="4413"/>
                    <a:pt x="418667" y="12267"/>
                  </a:cubicBezTo>
                  <a:close/>
                </a:path>
              </a:pathLst>
            </a:custGeom>
            <a:solidFill>
              <a:srgbClr val="FFFFFF"/>
            </a:solidFill>
          </p:spPr>
        </p:sp>
        <p:sp>
          <p:nvSpPr>
            <p:cNvPr name="TextBox 28" id="28"/>
            <p:cNvSpPr txBox="true"/>
            <p:nvPr/>
          </p:nvSpPr>
          <p:spPr>
            <a:xfrm>
              <a:off x="139700" y="101600"/>
              <a:ext cx="533400" cy="571500"/>
            </a:xfrm>
            <a:prstGeom prst="rect">
              <a:avLst/>
            </a:prstGeom>
          </p:spPr>
          <p:txBody>
            <a:bodyPr anchor="ctr" rtlCol="false" tIns="42383" lIns="42383" bIns="42383" rIns="42383"/>
            <a:lstStyle/>
            <a:p>
              <a:pPr algn="ctr">
                <a:lnSpc>
                  <a:spcPts val="3359"/>
                </a:lnSpc>
              </a:pPr>
            </a:p>
          </p:txBody>
        </p:sp>
      </p:grpSp>
      <p:grpSp>
        <p:nvGrpSpPr>
          <p:cNvPr name="Group 29" id="29"/>
          <p:cNvGrpSpPr/>
          <p:nvPr/>
        </p:nvGrpSpPr>
        <p:grpSpPr>
          <a:xfrm rot="0">
            <a:off x="13367863" y="813308"/>
            <a:ext cx="9322879" cy="9322879"/>
            <a:chOff x="0" y="0"/>
            <a:chExt cx="812800" cy="812800"/>
          </a:xfrm>
        </p:grpSpPr>
        <p:sp>
          <p:nvSpPr>
            <p:cNvPr name="Freeform 30" id="30"/>
            <p:cNvSpPr/>
            <p:nvPr/>
          </p:nvSpPr>
          <p:spPr>
            <a:xfrm flipH="false" flipV="false" rot="0">
              <a:off x="19262" y="19262"/>
              <a:ext cx="774275" cy="774275"/>
            </a:xfrm>
            <a:custGeom>
              <a:avLst/>
              <a:gdLst/>
              <a:ahLst/>
              <a:cxnLst/>
              <a:rect r="r" b="b" t="t" l="l"/>
              <a:pathLst>
                <a:path h="774275" w="774275">
                  <a:moveTo>
                    <a:pt x="420021" y="13621"/>
                  </a:moveTo>
                  <a:lnTo>
                    <a:pt x="760655" y="354255"/>
                  </a:lnTo>
                  <a:cubicBezTo>
                    <a:pt x="778816" y="372416"/>
                    <a:pt x="778816" y="401860"/>
                    <a:pt x="760655" y="420021"/>
                  </a:cubicBezTo>
                  <a:lnTo>
                    <a:pt x="420021" y="760655"/>
                  </a:lnTo>
                  <a:cubicBezTo>
                    <a:pt x="401860" y="778816"/>
                    <a:pt x="372416" y="778816"/>
                    <a:pt x="354255" y="760655"/>
                  </a:cubicBezTo>
                  <a:lnTo>
                    <a:pt x="13621" y="420021"/>
                  </a:lnTo>
                  <a:cubicBezTo>
                    <a:pt x="-4540" y="401860"/>
                    <a:pt x="-4540" y="372416"/>
                    <a:pt x="13621" y="354255"/>
                  </a:cubicBezTo>
                  <a:lnTo>
                    <a:pt x="354255" y="13621"/>
                  </a:lnTo>
                  <a:cubicBezTo>
                    <a:pt x="372416" y="-4540"/>
                    <a:pt x="401860" y="-4540"/>
                    <a:pt x="420021" y="13621"/>
                  </a:cubicBezTo>
                  <a:close/>
                </a:path>
              </a:pathLst>
            </a:custGeom>
            <a:blipFill>
              <a:blip r:embed="rId7"/>
              <a:stretch>
                <a:fillRect l="0" t="-25136" r="0" b="-25136"/>
              </a:stretch>
            </a:blipFill>
          </p:spPr>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2700000">
            <a:off x="-3915969" y="-2517074"/>
            <a:ext cx="10591742" cy="1317596"/>
          </a:xfrm>
          <a:custGeom>
            <a:avLst/>
            <a:gdLst/>
            <a:ahLst/>
            <a:cxnLst/>
            <a:rect r="r" b="b" t="t" l="l"/>
            <a:pathLst>
              <a:path h="1317596" w="10591742">
                <a:moveTo>
                  <a:pt x="0" y="0"/>
                </a:moveTo>
                <a:lnTo>
                  <a:pt x="10591742" y="0"/>
                </a:lnTo>
                <a:lnTo>
                  <a:pt x="10591742" y="1317595"/>
                </a:lnTo>
                <a:lnTo>
                  <a:pt x="0" y="1317595"/>
                </a:lnTo>
                <a:lnTo>
                  <a:pt x="0" y="0"/>
                </a:lnTo>
                <a:close/>
              </a:path>
            </a:pathLst>
          </a:custGeom>
          <a:blipFill>
            <a:blip r:embed="rId2">
              <a:alphaModFix amt="13000"/>
            </a:blip>
            <a:stretch>
              <a:fillRect l="0" t="-20155" r="0" b="-20155"/>
            </a:stretch>
          </a:blipFill>
        </p:spPr>
      </p:sp>
      <p:sp>
        <p:nvSpPr>
          <p:cNvPr name="Freeform 3" id="3"/>
          <p:cNvSpPr/>
          <p:nvPr/>
        </p:nvSpPr>
        <p:spPr>
          <a:xfrm flipH="false" flipV="false" rot="8100000">
            <a:off x="-1493800" y="3235836"/>
            <a:ext cx="8095971" cy="1317596"/>
          </a:xfrm>
          <a:custGeom>
            <a:avLst/>
            <a:gdLst/>
            <a:ahLst/>
            <a:cxnLst/>
            <a:rect r="r" b="b" t="t" l="l"/>
            <a:pathLst>
              <a:path h="1317596" w="8095971">
                <a:moveTo>
                  <a:pt x="0" y="0"/>
                </a:moveTo>
                <a:lnTo>
                  <a:pt x="8095971" y="0"/>
                </a:lnTo>
                <a:lnTo>
                  <a:pt x="8095971" y="1317595"/>
                </a:lnTo>
                <a:lnTo>
                  <a:pt x="0" y="1317595"/>
                </a:lnTo>
                <a:lnTo>
                  <a:pt x="0" y="0"/>
                </a:lnTo>
                <a:close/>
              </a:path>
            </a:pathLst>
          </a:custGeom>
          <a:blipFill>
            <a:blip r:embed="rId2">
              <a:alphaModFix amt="19999"/>
            </a:blip>
            <a:stretch>
              <a:fillRect l="0" t="-7391" r="-7023" b="-7391"/>
            </a:stretch>
          </a:blipFill>
        </p:spPr>
      </p:sp>
      <p:grpSp>
        <p:nvGrpSpPr>
          <p:cNvPr name="Group 4" id="4"/>
          <p:cNvGrpSpPr/>
          <p:nvPr/>
        </p:nvGrpSpPr>
        <p:grpSpPr>
          <a:xfrm rot="-10800000">
            <a:off x="-8428347" y="-5260590"/>
            <a:ext cx="13618068" cy="13618068"/>
            <a:chOff x="0" y="0"/>
            <a:chExt cx="812800" cy="812800"/>
          </a:xfrm>
        </p:grpSpPr>
        <p:sp>
          <p:nvSpPr>
            <p:cNvPr name="Freeform 5" id="5"/>
            <p:cNvSpPr/>
            <p:nvPr/>
          </p:nvSpPr>
          <p:spPr>
            <a:xfrm flipH="false" flipV="false" rot="0">
              <a:off x="13187" y="13187"/>
              <a:ext cx="786426" cy="786426"/>
            </a:xfrm>
            <a:custGeom>
              <a:avLst/>
              <a:gdLst/>
              <a:ahLst/>
              <a:cxnLst/>
              <a:rect r="r" b="b" t="t" l="l"/>
              <a:pathLst>
                <a:path h="786426" w="786426">
                  <a:moveTo>
                    <a:pt x="415725" y="9325"/>
                  </a:moveTo>
                  <a:lnTo>
                    <a:pt x="777101" y="370701"/>
                  </a:lnTo>
                  <a:cubicBezTo>
                    <a:pt x="783072" y="376672"/>
                    <a:pt x="786426" y="384770"/>
                    <a:pt x="786426" y="393213"/>
                  </a:cubicBezTo>
                  <a:cubicBezTo>
                    <a:pt x="786426" y="401656"/>
                    <a:pt x="783072" y="409754"/>
                    <a:pt x="777101" y="415725"/>
                  </a:cubicBezTo>
                  <a:lnTo>
                    <a:pt x="415725" y="777101"/>
                  </a:lnTo>
                  <a:cubicBezTo>
                    <a:pt x="409754" y="783072"/>
                    <a:pt x="401656" y="786426"/>
                    <a:pt x="393213" y="786426"/>
                  </a:cubicBezTo>
                  <a:cubicBezTo>
                    <a:pt x="384770" y="786426"/>
                    <a:pt x="376672" y="783072"/>
                    <a:pt x="370701" y="777101"/>
                  </a:cubicBezTo>
                  <a:lnTo>
                    <a:pt x="9325" y="415725"/>
                  </a:lnTo>
                  <a:cubicBezTo>
                    <a:pt x="3354" y="409754"/>
                    <a:pt x="0" y="401656"/>
                    <a:pt x="0" y="393213"/>
                  </a:cubicBezTo>
                  <a:cubicBezTo>
                    <a:pt x="0" y="384770"/>
                    <a:pt x="3354" y="376672"/>
                    <a:pt x="9325" y="370701"/>
                  </a:cubicBezTo>
                  <a:lnTo>
                    <a:pt x="370701" y="9325"/>
                  </a:lnTo>
                  <a:cubicBezTo>
                    <a:pt x="376672" y="3354"/>
                    <a:pt x="384770" y="0"/>
                    <a:pt x="393213" y="0"/>
                  </a:cubicBezTo>
                  <a:cubicBezTo>
                    <a:pt x="401656" y="0"/>
                    <a:pt x="409754" y="3354"/>
                    <a:pt x="415725" y="9325"/>
                  </a:cubicBezTo>
                  <a:close/>
                </a:path>
              </a:pathLst>
            </a:custGeom>
            <a:solidFill>
              <a:srgbClr val="FFFFFF"/>
            </a:solidFill>
          </p:spPr>
        </p:sp>
        <p:sp>
          <p:nvSpPr>
            <p:cNvPr name="TextBox 6" id="6"/>
            <p:cNvSpPr txBox="true"/>
            <p:nvPr/>
          </p:nvSpPr>
          <p:spPr>
            <a:xfrm>
              <a:off x="139700" y="101600"/>
              <a:ext cx="533400" cy="571500"/>
            </a:xfrm>
            <a:prstGeom prst="rect">
              <a:avLst/>
            </a:prstGeom>
          </p:spPr>
          <p:txBody>
            <a:bodyPr anchor="ctr" rtlCol="false" tIns="55757" lIns="55757" bIns="55757" rIns="55757"/>
            <a:lstStyle/>
            <a:p>
              <a:pPr algn="ctr">
                <a:lnSpc>
                  <a:spcPts val="3359"/>
                </a:lnSpc>
              </a:pPr>
            </a:p>
          </p:txBody>
        </p:sp>
      </p:grpSp>
      <p:grpSp>
        <p:nvGrpSpPr>
          <p:cNvPr name="Group 7" id="7"/>
          <p:cNvGrpSpPr/>
          <p:nvPr/>
        </p:nvGrpSpPr>
        <p:grpSpPr>
          <a:xfrm rot="2518158">
            <a:off x="14179583" y="870561"/>
            <a:ext cx="6159434" cy="14973834"/>
            <a:chOff x="0" y="0"/>
            <a:chExt cx="1622238" cy="3943726"/>
          </a:xfrm>
        </p:grpSpPr>
        <p:sp>
          <p:nvSpPr>
            <p:cNvPr name="Freeform 8" id="8"/>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1A50E"/>
            </a:solidFill>
          </p:spPr>
        </p:sp>
        <p:sp>
          <p:nvSpPr>
            <p:cNvPr name="TextBox 9" id="9"/>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grpSp>
        <p:nvGrpSpPr>
          <p:cNvPr name="Group 10" id="10"/>
          <p:cNvGrpSpPr/>
          <p:nvPr/>
        </p:nvGrpSpPr>
        <p:grpSpPr>
          <a:xfrm rot="8100000">
            <a:off x="10421514" y="-3691265"/>
            <a:ext cx="3456456" cy="12684271"/>
            <a:chOff x="0" y="0"/>
            <a:chExt cx="910342" cy="3340713"/>
          </a:xfrm>
        </p:grpSpPr>
        <p:sp>
          <p:nvSpPr>
            <p:cNvPr name="Freeform 11" id="11"/>
            <p:cNvSpPr/>
            <p:nvPr/>
          </p:nvSpPr>
          <p:spPr>
            <a:xfrm flipH="false" flipV="false" rot="0">
              <a:off x="0" y="0"/>
              <a:ext cx="910342" cy="3340713"/>
            </a:xfrm>
            <a:custGeom>
              <a:avLst/>
              <a:gdLst/>
              <a:ahLst/>
              <a:cxnLst/>
              <a:rect r="r" b="b" t="t" l="l"/>
              <a:pathLst>
                <a:path h="3340713" w="910342">
                  <a:moveTo>
                    <a:pt x="203200" y="0"/>
                  </a:moveTo>
                  <a:lnTo>
                    <a:pt x="910342" y="0"/>
                  </a:lnTo>
                  <a:lnTo>
                    <a:pt x="707142" y="3340713"/>
                  </a:lnTo>
                  <a:lnTo>
                    <a:pt x="0" y="3340713"/>
                  </a:lnTo>
                  <a:lnTo>
                    <a:pt x="203200" y="0"/>
                  </a:lnTo>
                  <a:close/>
                </a:path>
              </a:pathLst>
            </a:custGeom>
            <a:solidFill>
              <a:srgbClr val="F1A50E"/>
            </a:solidFill>
          </p:spPr>
        </p:sp>
        <p:sp>
          <p:nvSpPr>
            <p:cNvPr name="TextBox 12" id="12"/>
            <p:cNvSpPr txBox="true"/>
            <p:nvPr/>
          </p:nvSpPr>
          <p:spPr>
            <a:xfrm>
              <a:off x="101600" y="-38100"/>
              <a:ext cx="707142" cy="3378813"/>
            </a:xfrm>
            <a:prstGeom prst="rect">
              <a:avLst/>
            </a:prstGeom>
          </p:spPr>
          <p:txBody>
            <a:bodyPr anchor="ctr" rtlCol="false" tIns="50800" lIns="50800" bIns="50800" rIns="50800"/>
            <a:lstStyle/>
            <a:p>
              <a:pPr algn="ctr">
                <a:lnSpc>
                  <a:spcPts val="3359"/>
                </a:lnSpc>
              </a:pPr>
            </a:p>
          </p:txBody>
        </p:sp>
      </p:grpSp>
      <p:sp>
        <p:nvSpPr>
          <p:cNvPr name="Freeform 13" id="13"/>
          <p:cNvSpPr/>
          <p:nvPr/>
        </p:nvSpPr>
        <p:spPr>
          <a:xfrm flipH="false" flipV="false" rot="-8100000">
            <a:off x="9068140" y="4791031"/>
            <a:ext cx="6163205" cy="1200452"/>
          </a:xfrm>
          <a:custGeom>
            <a:avLst/>
            <a:gdLst/>
            <a:ahLst/>
            <a:cxnLst/>
            <a:rect r="r" b="b" t="t" l="l"/>
            <a:pathLst>
              <a:path h="1200452" w="6163205">
                <a:moveTo>
                  <a:pt x="0" y="0"/>
                </a:moveTo>
                <a:lnTo>
                  <a:pt x="6163204" y="0"/>
                </a:lnTo>
                <a:lnTo>
                  <a:pt x="6163204" y="1200452"/>
                </a:lnTo>
                <a:lnTo>
                  <a:pt x="0" y="1200452"/>
                </a:lnTo>
                <a:lnTo>
                  <a:pt x="0" y="0"/>
                </a:lnTo>
                <a:close/>
              </a:path>
            </a:pathLst>
          </a:custGeom>
          <a:blipFill>
            <a:blip r:embed="rId2">
              <a:alphaModFix amt="27000"/>
            </a:blip>
            <a:stretch>
              <a:fillRect l="-21357" t="-4375" r="0" b="-4375"/>
            </a:stretch>
          </a:blipFill>
        </p:spPr>
      </p:sp>
      <p:sp>
        <p:nvSpPr>
          <p:cNvPr name="Freeform 14" id="14"/>
          <p:cNvSpPr/>
          <p:nvPr/>
        </p:nvSpPr>
        <p:spPr>
          <a:xfrm flipH="false" flipV="false" rot="-2700000">
            <a:off x="8950979" y="1024961"/>
            <a:ext cx="5343536" cy="1200452"/>
          </a:xfrm>
          <a:custGeom>
            <a:avLst/>
            <a:gdLst/>
            <a:ahLst/>
            <a:cxnLst/>
            <a:rect r="r" b="b" t="t" l="l"/>
            <a:pathLst>
              <a:path h="1200452" w="5343536">
                <a:moveTo>
                  <a:pt x="0" y="0"/>
                </a:moveTo>
                <a:lnTo>
                  <a:pt x="5343536" y="0"/>
                </a:lnTo>
                <a:lnTo>
                  <a:pt x="5343536" y="1200453"/>
                </a:lnTo>
                <a:lnTo>
                  <a:pt x="0" y="1200453"/>
                </a:lnTo>
                <a:lnTo>
                  <a:pt x="0" y="0"/>
                </a:lnTo>
                <a:close/>
              </a:path>
            </a:pathLst>
          </a:custGeom>
          <a:blipFill>
            <a:blip r:embed="rId2">
              <a:alphaModFix amt="27000"/>
            </a:blip>
            <a:stretch>
              <a:fillRect l="0" t="-7391" r="-47734" b="-7391"/>
            </a:stretch>
          </a:blipFill>
        </p:spPr>
      </p:sp>
      <p:grpSp>
        <p:nvGrpSpPr>
          <p:cNvPr name="Group 15" id="15"/>
          <p:cNvGrpSpPr/>
          <p:nvPr/>
        </p:nvGrpSpPr>
        <p:grpSpPr>
          <a:xfrm rot="0">
            <a:off x="9856599" y="-2954947"/>
            <a:ext cx="12407330" cy="12407330"/>
            <a:chOff x="0" y="0"/>
            <a:chExt cx="812800" cy="812800"/>
          </a:xfrm>
        </p:grpSpPr>
        <p:sp>
          <p:nvSpPr>
            <p:cNvPr name="Freeform 16" id="16"/>
            <p:cNvSpPr/>
            <p:nvPr/>
          </p:nvSpPr>
          <p:spPr>
            <a:xfrm flipH="false" flipV="false" rot="0">
              <a:off x="14474" y="14474"/>
              <a:ext cx="783852" cy="783852"/>
            </a:xfrm>
            <a:custGeom>
              <a:avLst/>
              <a:gdLst/>
              <a:ahLst/>
              <a:cxnLst/>
              <a:rect r="r" b="b" t="t" l="l"/>
              <a:pathLst>
                <a:path h="783852" w="783852">
                  <a:moveTo>
                    <a:pt x="416634" y="10234"/>
                  </a:moveTo>
                  <a:lnTo>
                    <a:pt x="773618" y="367218"/>
                  </a:lnTo>
                  <a:cubicBezTo>
                    <a:pt x="780171" y="373771"/>
                    <a:pt x="783852" y="382659"/>
                    <a:pt x="783852" y="391926"/>
                  </a:cubicBezTo>
                  <a:cubicBezTo>
                    <a:pt x="783852" y="401193"/>
                    <a:pt x="780171" y="410081"/>
                    <a:pt x="773618" y="416634"/>
                  </a:cubicBezTo>
                  <a:lnTo>
                    <a:pt x="416634" y="773618"/>
                  </a:lnTo>
                  <a:cubicBezTo>
                    <a:pt x="410081" y="780171"/>
                    <a:pt x="401193" y="783852"/>
                    <a:pt x="391926" y="783852"/>
                  </a:cubicBezTo>
                  <a:cubicBezTo>
                    <a:pt x="382659" y="783852"/>
                    <a:pt x="373771" y="780171"/>
                    <a:pt x="367218" y="773618"/>
                  </a:cubicBezTo>
                  <a:lnTo>
                    <a:pt x="10234" y="416634"/>
                  </a:lnTo>
                  <a:cubicBezTo>
                    <a:pt x="3681" y="410081"/>
                    <a:pt x="0" y="401193"/>
                    <a:pt x="0" y="391926"/>
                  </a:cubicBezTo>
                  <a:cubicBezTo>
                    <a:pt x="0" y="382659"/>
                    <a:pt x="3681" y="373771"/>
                    <a:pt x="10234" y="367218"/>
                  </a:cubicBezTo>
                  <a:lnTo>
                    <a:pt x="367218" y="10234"/>
                  </a:lnTo>
                  <a:cubicBezTo>
                    <a:pt x="373771" y="3681"/>
                    <a:pt x="382659" y="0"/>
                    <a:pt x="391926" y="0"/>
                  </a:cubicBezTo>
                  <a:cubicBezTo>
                    <a:pt x="401193" y="0"/>
                    <a:pt x="410081" y="3681"/>
                    <a:pt x="416634" y="10234"/>
                  </a:cubicBezTo>
                  <a:close/>
                </a:path>
              </a:pathLst>
            </a:custGeom>
            <a:solidFill>
              <a:srgbClr val="FFFFFF"/>
            </a:solidFill>
          </p:spPr>
        </p:sp>
        <p:sp>
          <p:nvSpPr>
            <p:cNvPr name="TextBox 17" id="17"/>
            <p:cNvSpPr txBox="true"/>
            <p:nvPr/>
          </p:nvSpPr>
          <p:spPr>
            <a:xfrm>
              <a:off x="139700" y="101600"/>
              <a:ext cx="533400" cy="571500"/>
            </a:xfrm>
            <a:prstGeom prst="rect">
              <a:avLst/>
            </a:prstGeom>
          </p:spPr>
          <p:txBody>
            <a:bodyPr anchor="ctr" rtlCol="false" tIns="50800" lIns="50800" bIns="50800" rIns="50800"/>
            <a:lstStyle/>
            <a:p>
              <a:pPr algn="ctr">
                <a:lnSpc>
                  <a:spcPts val="3359"/>
                </a:lnSpc>
              </a:pPr>
            </a:p>
          </p:txBody>
        </p:sp>
      </p:grpSp>
      <p:sp>
        <p:nvSpPr>
          <p:cNvPr name="Freeform 18" id="18"/>
          <p:cNvSpPr/>
          <p:nvPr/>
        </p:nvSpPr>
        <p:spPr>
          <a:xfrm flipH="false" flipV="false" rot="-8100000">
            <a:off x="13390865" y="7637663"/>
            <a:ext cx="771811" cy="4301341"/>
          </a:xfrm>
          <a:custGeom>
            <a:avLst/>
            <a:gdLst/>
            <a:ahLst/>
            <a:cxnLst/>
            <a:rect r="r" b="b" t="t" l="l"/>
            <a:pathLst>
              <a:path h="4301341" w="771811">
                <a:moveTo>
                  <a:pt x="0" y="0"/>
                </a:moveTo>
                <a:lnTo>
                  <a:pt x="771812" y="0"/>
                </a:lnTo>
                <a:lnTo>
                  <a:pt x="771812" y="4301341"/>
                </a:lnTo>
                <a:lnTo>
                  <a:pt x="0" y="4301341"/>
                </a:lnTo>
                <a:lnTo>
                  <a:pt x="0" y="0"/>
                </a:lnTo>
                <a:close/>
              </a:path>
            </a:pathLst>
          </a:custGeom>
          <a:blipFill>
            <a:blip r:embed="rId3"/>
            <a:stretch>
              <a:fillRect l="-105286" t="0" r="-14595" b="0"/>
            </a:stretch>
          </a:blipFill>
        </p:spPr>
      </p:sp>
      <p:grpSp>
        <p:nvGrpSpPr>
          <p:cNvPr name="Group 19" id="19"/>
          <p:cNvGrpSpPr/>
          <p:nvPr/>
        </p:nvGrpSpPr>
        <p:grpSpPr>
          <a:xfrm rot="2518158">
            <a:off x="15014348" y="3989153"/>
            <a:ext cx="4184293" cy="10172185"/>
            <a:chOff x="0" y="0"/>
            <a:chExt cx="1622238" cy="3943726"/>
          </a:xfrm>
        </p:grpSpPr>
        <p:sp>
          <p:nvSpPr>
            <p:cNvPr name="Freeform 20" id="20"/>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FFDE59"/>
            </a:solidFill>
          </p:spPr>
        </p:sp>
        <p:sp>
          <p:nvSpPr>
            <p:cNvPr name="TextBox 21" id="21"/>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22" id="22"/>
          <p:cNvSpPr/>
          <p:nvPr/>
        </p:nvSpPr>
        <p:spPr>
          <a:xfrm flipH="false" flipV="false" rot="-2700000">
            <a:off x="14078518" y="8154965"/>
            <a:ext cx="5477894" cy="1200452"/>
          </a:xfrm>
          <a:custGeom>
            <a:avLst/>
            <a:gdLst/>
            <a:ahLst/>
            <a:cxnLst/>
            <a:rect r="r" b="b" t="t" l="l"/>
            <a:pathLst>
              <a:path h="1200452" w="5477894">
                <a:moveTo>
                  <a:pt x="0" y="0"/>
                </a:moveTo>
                <a:lnTo>
                  <a:pt x="5477894" y="0"/>
                </a:lnTo>
                <a:lnTo>
                  <a:pt x="5477894" y="1200453"/>
                </a:lnTo>
                <a:lnTo>
                  <a:pt x="0" y="1200453"/>
                </a:lnTo>
                <a:lnTo>
                  <a:pt x="0" y="0"/>
                </a:lnTo>
                <a:close/>
              </a:path>
            </a:pathLst>
          </a:custGeom>
          <a:blipFill>
            <a:blip r:embed="rId2">
              <a:alphaModFix amt="27000"/>
            </a:blip>
            <a:stretch>
              <a:fillRect l="-22095" t="0" r="-3456" b="0"/>
            </a:stretch>
          </a:blipFill>
        </p:spPr>
      </p:sp>
      <p:grpSp>
        <p:nvGrpSpPr>
          <p:cNvPr name="Group 23" id="23"/>
          <p:cNvGrpSpPr/>
          <p:nvPr/>
        </p:nvGrpSpPr>
        <p:grpSpPr>
          <a:xfrm rot="2518158">
            <a:off x="16423857" y="5465352"/>
            <a:ext cx="3280102" cy="7974061"/>
            <a:chOff x="0" y="0"/>
            <a:chExt cx="1622238" cy="3943726"/>
          </a:xfrm>
        </p:grpSpPr>
        <p:sp>
          <p:nvSpPr>
            <p:cNvPr name="Freeform 24" id="24"/>
            <p:cNvSpPr/>
            <p:nvPr/>
          </p:nvSpPr>
          <p:spPr>
            <a:xfrm flipH="false" flipV="false" rot="0">
              <a:off x="0" y="0"/>
              <a:ext cx="1622238" cy="3943726"/>
            </a:xfrm>
            <a:custGeom>
              <a:avLst/>
              <a:gdLst/>
              <a:ahLst/>
              <a:cxnLst/>
              <a:rect r="r" b="b" t="t" l="l"/>
              <a:pathLst>
                <a:path h="3943726" w="1622238">
                  <a:moveTo>
                    <a:pt x="203200" y="0"/>
                  </a:moveTo>
                  <a:lnTo>
                    <a:pt x="1622238" y="0"/>
                  </a:lnTo>
                  <a:lnTo>
                    <a:pt x="1419038" y="3943726"/>
                  </a:lnTo>
                  <a:lnTo>
                    <a:pt x="0" y="3943726"/>
                  </a:lnTo>
                  <a:lnTo>
                    <a:pt x="203200" y="0"/>
                  </a:lnTo>
                  <a:close/>
                </a:path>
              </a:pathLst>
            </a:custGeom>
            <a:solidFill>
              <a:srgbClr val="000000"/>
            </a:solidFill>
          </p:spPr>
        </p:sp>
        <p:sp>
          <p:nvSpPr>
            <p:cNvPr name="TextBox 25" id="25"/>
            <p:cNvSpPr txBox="true"/>
            <p:nvPr/>
          </p:nvSpPr>
          <p:spPr>
            <a:xfrm>
              <a:off x="101600" y="-38100"/>
              <a:ext cx="1419038" cy="3981826"/>
            </a:xfrm>
            <a:prstGeom prst="rect">
              <a:avLst/>
            </a:prstGeom>
          </p:spPr>
          <p:txBody>
            <a:bodyPr anchor="ctr" rtlCol="false" tIns="50800" lIns="50800" bIns="50800" rIns="50800"/>
            <a:lstStyle/>
            <a:p>
              <a:pPr algn="ctr">
                <a:lnSpc>
                  <a:spcPts val="3359"/>
                </a:lnSpc>
              </a:pPr>
            </a:p>
          </p:txBody>
        </p:sp>
      </p:grpSp>
      <p:sp>
        <p:nvSpPr>
          <p:cNvPr name="Freeform 26" id="26"/>
          <p:cNvSpPr/>
          <p:nvPr/>
        </p:nvSpPr>
        <p:spPr>
          <a:xfrm flipH="false" flipV="false" rot="0">
            <a:off x="2253438" y="5876936"/>
            <a:ext cx="665488" cy="665488"/>
          </a:xfrm>
          <a:custGeom>
            <a:avLst/>
            <a:gdLst/>
            <a:ahLst/>
            <a:cxnLst/>
            <a:rect r="r" b="b" t="t" l="l"/>
            <a:pathLst>
              <a:path h="665488" w="665488">
                <a:moveTo>
                  <a:pt x="0" y="0"/>
                </a:moveTo>
                <a:lnTo>
                  <a:pt x="665489" y="0"/>
                </a:lnTo>
                <a:lnTo>
                  <a:pt x="665489" y="665489"/>
                </a:lnTo>
                <a:lnTo>
                  <a:pt x="0" y="66548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7" id="27"/>
          <p:cNvSpPr/>
          <p:nvPr/>
        </p:nvSpPr>
        <p:spPr>
          <a:xfrm flipH="false" flipV="false" rot="0">
            <a:off x="2253438" y="8540287"/>
            <a:ext cx="665488" cy="665488"/>
          </a:xfrm>
          <a:custGeom>
            <a:avLst/>
            <a:gdLst/>
            <a:ahLst/>
            <a:cxnLst/>
            <a:rect r="r" b="b" t="t" l="l"/>
            <a:pathLst>
              <a:path h="665488" w="665488">
                <a:moveTo>
                  <a:pt x="0" y="0"/>
                </a:moveTo>
                <a:lnTo>
                  <a:pt x="665489" y="0"/>
                </a:lnTo>
                <a:lnTo>
                  <a:pt x="665489" y="665489"/>
                </a:lnTo>
                <a:lnTo>
                  <a:pt x="0" y="66548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8" id="28"/>
          <p:cNvSpPr/>
          <p:nvPr/>
        </p:nvSpPr>
        <p:spPr>
          <a:xfrm flipH="false" flipV="false" rot="0">
            <a:off x="2253438" y="7588913"/>
            <a:ext cx="665488" cy="665488"/>
          </a:xfrm>
          <a:custGeom>
            <a:avLst/>
            <a:gdLst/>
            <a:ahLst/>
            <a:cxnLst/>
            <a:rect r="r" b="b" t="t" l="l"/>
            <a:pathLst>
              <a:path h="665488" w="665488">
                <a:moveTo>
                  <a:pt x="0" y="0"/>
                </a:moveTo>
                <a:lnTo>
                  <a:pt x="665489" y="0"/>
                </a:lnTo>
                <a:lnTo>
                  <a:pt x="665489" y="665488"/>
                </a:lnTo>
                <a:lnTo>
                  <a:pt x="0" y="66548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29" id="29"/>
          <p:cNvSpPr/>
          <p:nvPr/>
        </p:nvSpPr>
        <p:spPr>
          <a:xfrm flipH="false" flipV="false" rot="0">
            <a:off x="2253438" y="6732925"/>
            <a:ext cx="665488" cy="665488"/>
          </a:xfrm>
          <a:custGeom>
            <a:avLst/>
            <a:gdLst/>
            <a:ahLst/>
            <a:cxnLst/>
            <a:rect r="r" b="b" t="t" l="l"/>
            <a:pathLst>
              <a:path h="665488" w="665488">
                <a:moveTo>
                  <a:pt x="0" y="0"/>
                </a:moveTo>
                <a:lnTo>
                  <a:pt x="665489" y="0"/>
                </a:lnTo>
                <a:lnTo>
                  <a:pt x="665489" y="665488"/>
                </a:lnTo>
                <a:lnTo>
                  <a:pt x="0" y="66548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30" id="30"/>
          <p:cNvSpPr txBox="true"/>
          <p:nvPr/>
        </p:nvSpPr>
        <p:spPr>
          <a:xfrm rot="0">
            <a:off x="2158136" y="4162103"/>
            <a:ext cx="6864706" cy="1276683"/>
          </a:xfrm>
          <a:prstGeom prst="rect">
            <a:avLst/>
          </a:prstGeom>
        </p:spPr>
        <p:txBody>
          <a:bodyPr anchor="t" rtlCol="false" tIns="0" lIns="0" bIns="0" rIns="0">
            <a:spAutoFit/>
          </a:bodyPr>
          <a:lstStyle/>
          <a:p>
            <a:pPr algn="l">
              <a:lnSpc>
                <a:spcPts val="10418"/>
              </a:lnSpc>
            </a:pPr>
            <a:r>
              <a:rPr lang="en-US" b="true" sz="7442">
                <a:solidFill>
                  <a:srgbClr val="F1A50E"/>
                </a:solidFill>
                <a:latin typeface="Garet Bold"/>
                <a:ea typeface="Garet Bold"/>
                <a:cs typeface="Garet Bold"/>
                <a:sym typeface="Garet Bold"/>
              </a:rPr>
              <a:t>CONTACT US</a:t>
            </a:r>
          </a:p>
        </p:txBody>
      </p:sp>
      <p:sp>
        <p:nvSpPr>
          <p:cNvPr name="TextBox 31" id="31"/>
          <p:cNvSpPr txBox="true"/>
          <p:nvPr/>
        </p:nvSpPr>
        <p:spPr>
          <a:xfrm rot="0">
            <a:off x="3120753" y="7668998"/>
            <a:ext cx="5806787" cy="463588"/>
          </a:xfrm>
          <a:prstGeom prst="rect">
            <a:avLst/>
          </a:prstGeom>
        </p:spPr>
        <p:txBody>
          <a:bodyPr anchor="t" rtlCol="false" tIns="0" lIns="0" bIns="0" rIns="0">
            <a:spAutoFit/>
          </a:bodyPr>
          <a:lstStyle/>
          <a:p>
            <a:pPr algn="l">
              <a:lnSpc>
                <a:spcPts val="3847"/>
              </a:lnSpc>
            </a:pPr>
            <a:r>
              <a:rPr lang="en-US" sz="2748" b="true">
                <a:solidFill>
                  <a:srgbClr val="000000"/>
                </a:solidFill>
                <a:latin typeface="Garet Bold"/>
                <a:ea typeface="Garet Bold"/>
                <a:cs typeface="Garet Bold"/>
                <a:sym typeface="Garet Bold"/>
              </a:rPr>
              <a:t>sin</a:t>
            </a:r>
            <a:r>
              <a:rPr lang="en-US" sz="2748" b="true">
                <a:solidFill>
                  <a:srgbClr val="000000"/>
                </a:solidFill>
                <a:latin typeface="Garet Bold"/>
                <a:ea typeface="Garet Bold"/>
                <a:cs typeface="Garet Bold"/>
                <a:sym typeface="Garet Bold"/>
              </a:rPr>
              <a:t>asupplies@outlook.com</a:t>
            </a:r>
          </a:p>
        </p:txBody>
      </p:sp>
      <p:sp>
        <p:nvSpPr>
          <p:cNvPr name="TextBox 32" id="32"/>
          <p:cNvSpPr txBox="true"/>
          <p:nvPr/>
        </p:nvSpPr>
        <p:spPr>
          <a:xfrm rot="0">
            <a:off x="3120753" y="8492662"/>
            <a:ext cx="9028989" cy="949363"/>
          </a:xfrm>
          <a:prstGeom prst="rect">
            <a:avLst/>
          </a:prstGeom>
        </p:spPr>
        <p:txBody>
          <a:bodyPr anchor="t" rtlCol="false" tIns="0" lIns="0" bIns="0" rIns="0">
            <a:spAutoFit/>
          </a:bodyPr>
          <a:lstStyle/>
          <a:p>
            <a:pPr algn="l">
              <a:lnSpc>
                <a:spcPts val="3847"/>
              </a:lnSpc>
            </a:pPr>
            <a:r>
              <a:rPr lang="en-US" sz="2748" b="true">
                <a:solidFill>
                  <a:srgbClr val="000000"/>
                </a:solidFill>
                <a:latin typeface="Garet Bold"/>
                <a:ea typeface="Garet Bold"/>
                <a:cs typeface="Garet Bold"/>
                <a:sym typeface="Garet Bold"/>
              </a:rPr>
              <a:t>Addis Ababa, Ethiopia Lemi kura Sub-city, W 03, House no. New</a:t>
            </a:r>
          </a:p>
        </p:txBody>
      </p:sp>
      <p:sp>
        <p:nvSpPr>
          <p:cNvPr name="TextBox 33" id="33"/>
          <p:cNvSpPr txBox="true"/>
          <p:nvPr/>
        </p:nvSpPr>
        <p:spPr>
          <a:xfrm rot="0">
            <a:off x="3120753" y="6813009"/>
            <a:ext cx="5806787" cy="463588"/>
          </a:xfrm>
          <a:prstGeom prst="rect">
            <a:avLst/>
          </a:prstGeom>
        </p:spPr>
        <p:txBody>
          <a:bodyPr anchor="t" rtlCol="false" tIns="0" lIns="0" bIns="0" rIns="0">
            <a:spAutoFit/>
          </a:bodyPr>
          <a:lstStyle/>
          <a:p>
            <a:pPr algn="l">
              <a:lnSpc>
                <a:spcPts val="3847"/>
              </a:lnSpc>
            </a:pPr>
            <a:r>
              <a:rPr lang="en-US" sz="2748" b="true">
                <a:solidFill>
                  <a:srgbClr val="000000"/>
                </a:solidFill>
                <a:latin typeface="Garet Bold"/>
                <a:ea typeface="Garet Bold"/>
                <a:cs typeface="Garet Bold"/>
                <a:sym typeface="Garet Bold"/>
              </a:rPr>
              <a:t>www.sinatrading.et</a:t>
            </a:r>
          </a:p>
        </p:txBody>
      </p:sp>
      <p:sp>
        <p:nvSpPr>
          <p:cNvPr name="TextBox 34" id="34"/>
          <p:cNvSpPr txBox="true"/>
          <p:nvPr/>
        </p:nvSpPr>
        <p:spPr>
          <a:xfrm rot="0">
            <a:off x="3120753" y="5926327"/>
            <a:ext cx="3432353" cy="463588"/>
          </a:xfrm>
          <a:prstGeom prst="rect">
            <a:avLst/>
          </a:prstGeom>
        </p:spPr>
        <p:txBody>
          <a:bodyPr anchor="t" rtlCol="false" tIns="0" lIns="0" bIns="0" rIns="0">
            <a:spAutoFit/>
          </a:bodyPr>
          <a:lstStyle/>
          <a:p>
            <a:pPr algn="l">
              <a:lnSpc>
                <a:spcPts val="3847"/>
              </a:lnSpc>
            </a:pPr>
            <a:r>
              <a:rPr lang="en-US" sz="2748" b="true">
                <a:solidFill>
                  <a:srgbClr val="000000"/>
                </a:solidFill>
                <a:latin typeface="Garet Bold"/>
                <a:ea typeface="Garet Bold"/>
                <a:cs typeface="Garet Bold"/>
                <a:sym typeface="Garet Bold"/>
              </a:rPr>
              <a:t>+25190-969-6932</a:t>
            </a:r>
          </a:p>
        </p:txBody>
      </p:sp>
      <p:grpSp>
        <p:nvGrpSpPr>
          <p:cNvPr name="Group 35" id="35"/>
          <p:cNvGrpSpPr/>
          <p:nvPr/>
        </p:nvGrpSpPr>
        <p:grpSpPr>
          <a:xfrm rot="0">
            <a:off x="12149742" y="1076229"/>
            <a:ext cx="5714884" cy="4362557"/>
            <a:chOff x="0" y="0"/>
            <a:chExt cx="7619845" cy="5816743"/>
          </a:xfrm>
        </p:grpSpPr>
        <p:sp>
          <p:nvSpPr>
            <p:cNvPr name="Freeform 36" id="36"/>
            <p:cNvSpPr/>
            <p:nvPr/>
          </p:nvSpPr>
          <p:spPr>
            <a:xfrm flipH="false" flipV="false" rot="0">
              <a:off x="897029" y="0"/>
              <a:ext cx="5825787" cy="3209176"/>
            </a:xfrm>
            <a:custGeom>
              <a:avLst/>
              <a:gdLst/>
              <a:ahLst/>
              <a:cxnLst/>
              <a:rect r="r" b="b" t="t" l="l"/>
              <a:pathLst>
                <a:path h="3209176" w="5825787">
                  <a:moveTo>
                    <a:pt x="0" y="0"/>
                  </a:moveTo>
                  <a:lnTo>
                    <a:pt x="5825787" y="0"/>
                  </a:lnTo>
                  <a:lnTo>
                    <a:pt x="5825787" y="3209176"/>
                  </a:lnTo>
                  <a:lnTo>
                    <a:pt x="0" y="320917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TextBox 37" id="37"/>
            <p:cNvSpPr txBox="true"/>
            <p:nvPr/>
          </p:nvSpPr>
          <p:spPr>
            <a:xfrm rot="0">
              <a:off x="1365361" y="3002497"/>
              <a:ext cx="4889123" cy="1436530"/>
            </a:xfrm>
            <a:prstGeom prst="rect">
              <a:avLst/>
            </a:prstGeom>
          </p:spPr>
          <p:txBody>
            <a:bodyPr anchor="t" rtlCol="false" tIns="0" lIns="0" bIns="0" rIns="0">
              <a:spAutoFit/>
            </a:bodyPr>
            <a:lstStyle/>
            <a:p>
              <a:pPr algn="ctr">
                <a:lnSpc>
                  <a:spcPts val="9747"/>
                </a:lnSpc>
              </a:pPr>
              <a:r>
                <a:rPr lang="en-US" b="true" sz="5734">
                  <a:solidFill>
                    <a:srgbClr val="000000"/>
                  </a:solidFill>
                  <a:latin typeface="Barlow Bold"/>
                  <a:ea typeface="Barlow Bold"/>
                  <a:cs typeface="Barlow Bold"/>
                  <a:sym typeface="Barlow Bold"/>
                </a:rPr>
                <a:t>SINA</a:t>
              </a:r>
            </a:p>
          </p:txBody>
        </p:sp>
        <p:sp>
          <p:nvSpPr>
            <p:cNvPr name="TextBox 38" id="38"/>
            <p:cNvSpPr txBox="true"/>
            <p:nvPr/>
          </p:nvSpPr>
          <p:spPr>
            <a:xfrm rot="0">
              <a:off x="0" y="4267577"/>
              <a:ext cx="7619845" cy="838363"/>
            </a:xfrm>
            <a:prstGeom prst="rect">
              <a:avLst/>
            </a:prstGeom>
          </p:spPr>
          <p:txBody>
            <a:bodyPr anchor="t" rtlCol="false" tIns="0" lIns="0" bIns="0" rIns="0">
              <a:spAutoFit/>
            </a:bodyPr>
            <a:lstStyle/>
            <a:p>
              <a:pPr algn="ctr">
                <a:lnSpc>
                  <a:spcPts val="5738"/>
                </a:lnSpc>
              </a:pPr>
              <a:r>
                <a:rPr lang="en-US" b="true" sz="3375" spc="155">
                  <a:solidFill>
                    <a:srgbClr val="000000"/>
                  </a:solidFill>
                  <a:latin typeface="Barlow Semi-Bold"/>
                  <a:ea typeface="Barlow Semi-Bold"/>
                  <a:cs typeface="Barlow Semi-Bold"/>
                  <a:sym typeface="Barlow Semi-Bold"/>
                </a:rPr>
                <a:t>SUPPLIES AND LOGISTICS</a:t>
              </a:r>
            </a:p>
          </p:txBody>
        </p:sp>
        <p:sp>
          <p:nvSpPr>
            <p:cNvPr name="TextBox 39" id="39"/>
            <p:cNvSpPr txBox="true"/>
            <p:nvPr/>
          </p:nvSpPr>
          <p:spPr>
            <a:xfrm rot="0">
              <a:off x="0" y="5259639"/>
              <a:ext cx="7619845" cy="557104"/>
            </a:xfrm>
            <a:prstGeom prst="rect">
              <a:avLst/>
            </a:prstGeom>
          </p:spPr>
          <p:txBody>
            <a:bodyPr anchor="t" rtlCol="false" tIns="0" lIns="0" bIns="0" rIns="0">
              <a:spAutoFit/>
            </a:bodyPr>
            <a:lstStyle/>
            <a:p>
              <a:pPr algn="ctr">
                <a:lnSpc>
                  <a:spcPts val="3892"/>
                </a:lnSpc>
              </a:pPr>
              <a:r>
                <a:rPr lang="en-US" b="true" sz="2289" spc="439">
                  <a:solidFill>
                    <a:srgbClr val="EDA10A"/>
                  </a:solidFill>
                  <a:latin typeface="Canva Sans Bold"/>
                  <a:ea typeface="Canva Sans Bold"/>
                  <a:cs typeface="Canva Sans Bold"/>
                  <a:sym typeface="Canva Sans Bold"/>
                </a:rPr>
                <a:t>Your Goods, Our Priority</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DAHO510DGz4</dc:identifier>
  <dcterms:modified xsi:type="dcterms:W3CDTF">2011-08-01T06:04:30Z</dcterms:modified>
  <cp:revision>1</cp:revision>
  <dc:title>SSL Company Profile </dc:title>
</cp:coreProperties>
</file>